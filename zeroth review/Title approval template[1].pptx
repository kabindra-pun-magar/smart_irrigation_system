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handoutMasterIdLst>
    <p:handoutMasterId r:id="rId17"/>
  </p:handoutMasterIdLst>
  <p:sldIdLst>
    <p:sldId id="256" r:id="rId2"/>
    <p:sldId id="258" r:id="rId3"/>
    <p:sldId id="259" r:id="rId4"/>
    <p:sldId id="260" r:id="rId5"/>
    <p:sldId id="267" r:id="rId6"/>
    <p:sldId id="268" r:id="rId7"/>
    <p:sldId id="269" r:id="rId8"/>
    <p:sldId id="270" r:id="rId9"/>
    <p:sldId id="262" r:id="rId10"/>
    <p:sldId id="263" r:id="rId11"/>
    <p:sldId id="264" r:id="rId12"/>
    <p:sldId id="271" r:id="rId13"/>
    <p:sldId id="265" r:id="rId14"/>
    <p:sldId id="266"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0000FF"/>
    <a:srgbClr val="1E09B7"/>
    <a:srgbClr val="180797"/>
    <a:srgbClr val="2B049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horzBarState="maximized">
    <p:restoredLeft sz="34559" autoAdjust="0"/>
    <p:restoredTop sz="86380" autoAdjust="0"/>
  </p:normalViewPr>
  <p:slideViewPr>
    <p:cSldViewPr>
      <p:cViewPr varScale="1">
        <p:scale>
          <a:sx n="85" d="100"/>
          <a:sy n="85" d="100"/>
        </p:scale>
        <p:origin x="797" y="48"/>
      </p:cViewPr>
      <p:guideLst>
        <p:guide orient="horz" pos="2160"/>
        <p:guide pos="2880"/>
      </p:guideLst>
    </p:cSldViewPr>
  </p:slideViewPr>
  <p:outlineViewPr>
    <p:cViewPr>
      <p:scale>
        <a:sx n="33" d="100"/>
        <a:sy n="33" d="100"/>
      </p:scale>
      <p:origin x="246" y="36945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AD9ADC7-433E-456E-B274-7581E36BDB25}" type="datetimeFigureOut">
              <a:rPr lang="en-US" smtClean="0"/>
              <a:t>7/26/2025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F8EDDDF-4F18-4F8A-A151-493296BCBC30}" type="slidenum">
              <a:rPr lang="en-US" smtClean="0"/>
              <a:t>‹#›</a:t>
            </a:fld>
            <a:endParaRPr lang="en-US"/>
          </a:p>
        </p:txBody>
      </p:sp>
    </p:spTree>
    <p:extLst>
      <p:ext uri="{BB962C8B-B14F-4D97-AF65-F5344CB8AC3E}">
        <p14:creationId xmlns:p14="http://schemas.microsoft.com/office/powerpoint/2010/main" val="137427723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BE296B9-C56B-4C8B-BF82-4BAC074CF3C2}" type="datetimeFigureOut">
              <a:rPr lang="en-US" smtClean="0"/>
              <a:pPr/>
              <a:t>7/26/2025</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D9267E4-C52D-4DB2-9CA8-0B56124A9FC3}" type="slidenum">
              <a:rPr lang="en-IN" smtClean="0"/>
              <a:pPr/>
              <a:t>‹#›</a:t>
            </a:fld>
            <a:endParaRPr lang="en-IN"/>
          </a:p>
        </p:txBody>
      </p:sp>
    </p:spTree>
    <p:extLst>
      <p:ext uri="{BB962C8B-B14F-4D97-AF65-F5344CB8AC3E}">
        <p14:creationId xmlns:p14="http://schemas.microsoft.com/office/powerpoint/2010/main" val="4002615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p>
        </p:txBody>
      </p:sp>
      <p:sp>
        <p:nvSpPr>
          <p:cNvPr id="717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90F39BA-23CA-4030-B241-88590D155614}" type="slidenum">
              <a:rPr lang="en-IN" smtClean="0">
                <a:latin typeface="Calibri" panose="020F0502020204030204" pitchFamily="34" charset="0"/>
              </a:rPr>
              <a:pPr/>
              <a:t>2</a:t>
            </a:fld>
            <a:endParaRPr lang="en-IN">
              <a:latin typeface="Calibri" panose="020F0502020204030204" pitchFamily="34" charset="0"/>
            </a:endParaRPr>
          </a:p>
        </p:txBody>
      </p:sp>
    </p:spTree>
    <p:extLst>
      <p:ext uri="{BB962C8B-B14F-4D97-AF65-F5344CB8AC3E}">
        <p14:creationId xmlns:p14="http://schemas.microsoft.com/office/powerpoint/2010/main" val="11743272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D9267E4-C52D-4DB2-9CA8-0B56124A9FC3}" type="slidenum">
              <a:rPr lang="en-IN" smtClean="0"/>
              <a:pPr/>
              <a:t>14</a:t>
            </a:fld>
            <a:endParaRPr lang="en-IN"/>
          </a:p>
        </p:txBody>
      </p:sp>
    </p:spTree>
    <p:extLst>
      <p:ext uri="{BB962C8B-B14F-4D97-AF65-F5344CB8AC3E}">
        <p14:creationId xmlns:p14="http://schemas.microsoft.com/office/powerpoint/2010/main" val="29282439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02887412-909E-4E21-B6E3-771848DD6564}" type="datetime1">
              <a:rPr lang="en-US" smtClean="0"/>
              <a:pPr/>
              <a:t>7/26/2025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3009814-85F0-44E2-AA29-54E28A9837B4}"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ECAB431-EEA5-4BBC-82AC-40F761174871}" type="datetime1">
              <a:rPr lang="en-US" smtClean="0"/>
              <a:pPr/>
              <a:t>7/26/2025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3009814-85F0-44E2-AA29-54E28A9837B4}"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AA3A495-87A8-4B20-84FA-30FD34C00C24}" type="datetime1">
              <a:rPr lang="en-US" smtClean="0"/>
              <a:pPr/>
              <a:t>7/26/2025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3009814-85F0-44E2-AA29-54E28A9837B4}"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EFB95297-51D0-403E-9CDD-CB6958F83DA7}" type="datetime1">
              <a:rPr lang="en-US" smtClean="0"/>
              <a:pPr/>
              <a:t>7/26/2025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3009814-85F0-44E2-AA29-54E28A9837B4}"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0054A1C7-0DC4-4D0B-88FB-17CFD6FC45AF}" type="datetime1">
              <a:rPr lang="en-US" smtClean="0"/>
              <a:pPr/>
              <a:t>7/26/2025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3009814-85F0-44E2-AA29-54E28A9837B4}"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EF9C527C-D660-471A-9D2A-D8A5B50FAEA2}" type="datetime1">
              <a:rPr lang="en-US" smtClean="0"/>
              <a:pPr/>
              <a:t>7/26/2025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3009814-85F0-44E2-AA29-54E28A9837B4}"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8104590-BFA6-4675-99B4-B3E1BE4FCC66}" type="datetime1">
              <a:rPr lang="en-US" smtClean="0"/>
              <a:pPr/>
              <a:t>7/26/2025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3009814-85F0-44E2-AA29-54E28A9837B4}"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E2032D9-5644-4F71-A473-5905705FE866}" type="datetime1">
              <a:rPr lang="en-US" smtClean="0"/>
              <a:pPr/>
              <a:t>7/26/2025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3009814-85F0-44E2-AA29-54E28A9837B4}"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3CF9401-C61E-4136-BBD3-A149841ADF21}" type="datetime1">
              <a:rPr lang="en-US" smtClean="0"/>
              <a:pPr/>
              <a:t>7/26/2025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3009814-85F0-44E2-AA29-54E28A9837B4}"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C9AF3C7-1448-4E3B-B701-CE4037A655F9}" type="datetime1">
              <a:rPr lang="en-US" smtClean="0"/>
              <a:pPr/>
              <a:t>7/26/2025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3009814-85F0-44E2-AA29-54E28A9837B4}"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05A3D3E-3E4B-4FD8-9C75-F9058813F98D}" type="datetime1">
              <a:rPr lang="en-US" smtClean="0"/>
              <a:pPr/>
              <a:t>7/26/2025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3009814-85F0-44E2-AA29-54E28A9837B4}"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1B7C5A9-0F2C-4DF7-BF89-E214E8EC700C}" type="datetime1">
              <a:rPr lang="en-US" smtClean="0"/>
              <a:pPr/>
              <a:t>7/26/2025</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09814-85F0-44E2-AA29-54E28A9837B4}"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www.researchgate.net/publication/378031593_IoT_Based_Smart_Irrigation_System_Using_Weather_Forecastin" TargetMode="External"/><Relationship Id="rId7" Type="http://schemas.openxmlformats.org/officeDocument/2006/relationships/hyperlink" Target="https://agupubs.onlinelibrary.wiley.com/doi/full/10.1029/2023WR035810"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hyperlink" Target="https://pdf.sciencedirectassets.com/779816/1-s2.0-S2772375524X00040/1-s2.0-S2772375524002971/main.pdf?X-Amz-Security-Token=IQoJb3J" TargetMode="External"/><Relationship Id="rId5" Type="http://schemas.openxmlformats.org/officeDocument/2006/relationships/hyperlink" Target="https://www.ijnrd.org/papers/IJNRD2402220.pdf" TargetMode="External"/><Relationship Id="rId4" Type="http://schemas.openxmlformats.org/officeDocument/2006/relationships/hyperlink" Target="https://www.ijirset.com/upload/2024/april/154_Irrigation.pdf"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cstate="print">
            <a:lum/>
          </a:blip>
          <a:srcRect/>
          <a:tile tx="0" ty="0" sx="98000" sy="100000" flip="none" algn="tl"/>
        </a:blip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6500826" y="6492874"/>
            <a:ext cx="2088000" cy="468000"/>
          </a:xfrm>
        </p:spPr>
        <p:txBody>
          <a:bodyPr/>
          <a:lstStyle/>
          <a:p>
            <a:fld id="{33009814-85F0-44E2-AA29-54E28A9837B4}" type="slidenum">
              <a:rPr lang="en-IN" sz="1400" smtClean="0">
                <a:solidFill>
                  <a:schemeClr val="tx1"/>
                </a:solidFill>
              </a:rPr>
              <a:pPr/>
              <a:t>1</a:t>
            </a:fld>
            <a:endParaRPr lang="en-IN" sz="1400" dirty="0">
              <a:solidFill>
                <a:schemeClr val="tx1"/>
              </a:solidFill>
            </a:endParaRPr>
          </a:p>
        </p:txBody>
      </p:sp>
      <p:sp>
        <p:nvSpPr>
          <p:cNvPr id="4" name="Rectangle 3"/>
          <p:cNvSpPr/>
          <p:nvPr/>
        </p:nvSpPr>
        <p:spPr>
          <a:xfrm>
            <a:off x="755650" y="1522413"/>
            <a:ext cx="8136830" cy="4093428"/>
          </a:xfrm>
          <a:prstGeom prst="rect">
            <a:avLst/>
          </a:prstGeom>
        </p:spPr>
        <p:txBody>
          <a:bodyPr wrap="square">
            <a:spAutoFit/>
          </a:bodyPr>
          <a:lstStyle/>
          <a:p>
            <a:pPr algn="ctr" eaLnBrk="1" fontAlgn="auto" hangingPunct="1">
              <a:spcBef>
                <a:spcPts val="0"/>
              </a:spcBef>
              <a:spcAft>
                <a:spcPts val="0"/>
              </a:spcAft>
              <a:defRPr/>
            </a:pPr>
            <a:r>
              <a:rPr lang="en-US" sz="2400" b="1" dirty="0">
                <a:solidFill>
                  <a:schemeClr val="accent2">
                    <a:lumMod val="75000"/>
                  </a:schemeClr>
                </a:solidFill>
              </a:rPr>
              <a:t>2025 – Mini Project II</a:t>
            </a:r>
          </a:p>
          <a:p>
            <a:pPr algn="ctr" eaLnBrk="1" fontAlgn="auto" hangingPunct="1">
              <a:spcBef>
                <a:spcPts val="0"/>
              </a:spcBef>
              <a:spcAft>
                <a:spcPts val="0"/>
              </a:spcAft>
              <a:defRPr/>
            </a:pPr>
            <a:endParaRPr lang="en-US" sz="1200" b="1" dirty="0">
              <a:solidFill>
                <a:schemeClr val="accent2">
                  <a:lumMod val="75000"/>
                </a:schemeClr>
              </a:solidFill>
            </a:endParaRPr>
          </a:p>
          <a:p>
            <a:pPr algn="ctr" eaLnBrk="1" fontAlgn="auto" hangingPunct="1">
              <a:spcBef>
                <a:spcPts val="0"/>
              </a:spcBef>
              <a:spcAft>
                <a:spcPts val="0"/>
              </a:spcAft>
              <a:defRPr/>
            </a:pPr>
            <a:r>
              <a:rPr lang="en-US" sz="2800" b="1" dirty="0">
                <a:solidFill>
                  <a:srgbClr val="002060"/>
                </a:solidFill>
              </a:rPr>
              <a:t>“</a:t>
            </a:r>
            <a:r>
              <a:rPr lang="en-US" sz="2800" b="1" dirty="0">
                <a:solidFill>
                  <a:srgbClr val="7030A0"/>
                </a:solidFill>
              </a:rPr>
              <a:t>Smart Irrigation Schedular using Forecast and Soil Moisture ” </a:t>
            </a:r>
            <a:endParaRPr lang="en-US" sz="2800" b="1" dirty="0">
              <a:solidFill>
                <a:srgbClr val="002060"/>
              </a:solidFill>
            </a:endParaRPr>
          </a:p>
          <a:p>
            <a:pPr algn="ctr" eaLnBrk="1" fontAlgn="auto" hangingPunct="1">
              <a:spcBef>
                <a:spcPts val="0"/>
              </a:spcBef>
              <a:spcAft>
                <a:spcPts val="0"/>
              </a:spcAft>
              <a:defRPr/>
            </a:pPr>
            <a:endParaRPr lang="en-US" sz="1200" b="1" dirty="0">
              <a:solidFill>
                <a:srgbClr val="002060"/>
              </a:solidFill>
            </a:endParaRPr>
          </a:p>
          <a:p>
            <a:pPr algn="ctr" eaLnBrk="1" fontAlgn="auto" hangingPunct="1">
              <a:spcBef>
                <a:spcPts val="0"/>
              </a:spcBef>
              <a:spcAft>
                <a:spcPts val="0"/>
              </a:spcAft>
              <a:defRPr/>
            </a:pPr>
            <a:r>
              <a:rPr lang="en-US" sz="1600" dirty="0">
                <a:solidFill>
                  <a:srgbClr val="00B0F0"/>
                </a:solidFill>
              </a:rPr>
              <a:t>Type of Project: Application based </a:t>
            </a:r>
            <a:endParaRPr lang="en-US" sz="1600" b="1" dirty="0">
              <a:solidFill>
                <a:srgbClr val="002060"/>
              </a:solidFill>
            </a:endParaRPr>
          </a:p>
          <a:p>
            <a:pPr algn="ctr" eaLnBrk="1" fontAlgn="auto" hangingPunct="1">
              <a:spcBef>
                <a:spcPts val="0"/>
              </a:spcBef>
              <a:spcAft>
                <a:spcPts val="0"/>
              </a:spcAft>
              <a:defRPr/>
            </a:pPr>
            <a:r>
              <a:rPr lang="en-US" sz="2000" b="1" dirty="0">
                <a:solidFill>
                  <a:srgbClr val="FF0000"/>
                </a:solidFill>
              </a:rPr>
              <a:t>Presented by</a:t>
            </a:r>
          </a:p>
          <a:p>
            <a:pPr algn="ctr" eaLnBrk="1" fontAlgn="auto" hangingPunct="1">
              <a:spcBef>
                <a:spcPts val="0"/>
              </a:spcBef>
              <a:spcAft>
                <a:spcPts val="0"/>
              </a:spcAft>
              <a:defRPr/>
            </a:pPr>
            <a:r>
              <a:rPr lang="en-US" sz="2000" b="1" dirty="0">
                <a:solidFill>
                  <a:srgbClr val="002060"/>
                </a:solidFill>
              </a:rPr>
              <a:t>Kabindra pun magar – 71812301170</a:t>
            </a:r>
          </a:p>
          <a:p>
            <a:pPr algn="ctr">
              <a:defRPr/>
            </a:pPr>
            <a:r>
              <a:rPr lang="en-US" sz="2000" b="1" dirty="0">
                <a:solidFill>
                  <a:srgbClr val="002060"/>
                </a:solidFill>
              </a:rPr>
              <a:t>Bishwanath Yadav-71812301168</a:t>
            </a:r>
          </a:p>
          <a:p>
            <a:pPr algn="ctr" eaLnBrk="1" fontAlgn="auto" hangingPunct="1">
              <a:spcBef>
                <a:spcPts val="0"/>
              </a:spcBef>
              <a:spcAft>
                <a:spcPts val="0"/>
              </a:spcAft>
              <a:defRPr/>
            </a:pPr>
            <a:endParaRPr lang="en-US" sz="2000" b="1" dirty="0">
              <a:solidFill>
                <a:srgbClr val="FF0000"/>
              </a:solidFill>
            </a:endParaRPr>
          </a:p>
          <a:p>
            <a:pPr algn="ctr" eaLnBrk="1" fontAlgn="auto" hangingPunct="1">
              <a:spcBef>
                <a:spcPts val="0"/>
              </a:spcBef>
              <a:spcAft>
                <a:spcPts val="0"/>
              </a:spcAft>
              <a:defRPr/>
            </a:pPr>
            <a:r>
              <a:rPr lang="en-US" sz="2000" b="1" dirty="0">
                <a:solidFill>
                  <a:srgbClr val="FF0000"/>
                </a:solidFill>
              </a:rPr>
              <a:t>Supervised by</a:t>
            </a:r>
          </a:p>
          <a:p>
            <a:pPr algn="ctr" eaLnBrk="1" fontAlgn="auto" hangingPunct="1">
              <a:spcBef>
                <a:spcPts val="0"/>
              </a:spcBef>
              <a:spcAft>
                <a:spcPts val="0"/>
              </a:spcAft>
              <a:defRPr/>
            </a:pPr>
            <a:r>
              <a:rPr lang="en-US" sz="2000" b="1" dirty="0">
                <a:solidFill>
                  <a:srgbClr val="00B050"/>
                </a:solidFill>
              </a:rPr>
              <a:t>Dr. R. </a:t>
            </a:r>
            <a:r>
              <a:rPr lang="en-US" sz="2000" b="1" dirty="0" err="1">
                <a:solidFill>
                  <a:srgbClr val="00B050"/>
                </a:solidFill>
              </a:rPr>
              <a:t>Madhumathi</a:t>
            </a:r>
            <a:endParaRPr lang="en-US" sz="2000" b="1" dirty="0">
              <a:solidFill>
                <a:srgbClr val="00B050"/>
              </a:solidFill>
            </a:endParaRPr>
          </a:p>
          <a:p>
            <a:pPr algn="ctr" eaLnBrk="1" fontAlgn="auto" hangingPunct="1">
              <a:spcBef>
                <a:spcPts val="0"/>
              </a:spcBef>
              <a:spcAft>
                <a:spcPts val="0"/>
              </a:spcAft>
              <a:defRPr/>
            </a:pPr>
            <a:r>
              <a:rPr lang="en-US" sz="2000" b="1" dirty="0">
                <a:solidFill>
                  <a:srgbClr val="00B050"/>
                </a:solidFill>
              </a:rPr>
              <a:t>Associate professor /CSE</a:t>
            </a:r>
          </a:p>
        </p:txBody>
      </p:sp>
      <p:sp>
        <p:nvSpPr>
          <p:cNvPr id="7" name="Rounded Rectangle 6"/>
          <p:cNvSpPr/>
          <p:nvPr/>
        </p:nvSpPr>
        <p:spPr>
          <a:xfrm>
            <a:off x="179388" y="1522412"/>
            <a:ext cx="1944340" cy="53843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b="1" dirty="0">
                <a:solidFill>
                  <a:srgbClr val="FF0000"/>
                </a:solidFill>
              </a:rPr>
              <a:t>Batch No </a:t>
            </a:r>
            <a:r>
              <a:rPr lang="en-US" dirty="0">
                <a:solidFill>
                  <a:srgbClr val="FF0000"/>
                </a:solidFill>
              </a:rPr>
              <a:t>: </a:t>
            </a:r>
            <a:r>
              <a:rPr lang="en-US" b="1" dirty="0">
                <a:solidFill>
                  <a:srgbClr val="FF0000"/>
                </a:solidFill>
              </a:rPr>
              <a:t>47</a:t>
            </a:r>
          </a:p>
        </p:txBody>
      </p:sp>
      <p:sp>
        <p:nvSpPr>
          <p:cNvPr id="8" name="Rounded Rectangle 7"/>
          <p:cNvSpPr/>
          <p:nvPr/>
        </p:nvSpPr>
        <p:spPr>
          <a:xfrm>
            <a:off x="323528" y="5954439"/>
            <a:ext cx="5112568" cy="53843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b="1" dirty="0">
                <a:solidFill>
                  <a:srgbClr val="7030A0"/>
                </a:solidFill>
              </a:rPr>
              <a:t>Review Type : </a:t>
            </a:r>
            <a:r>
              <a:rPr lang="en-US" b="1" dirty="0">
                <a:solidFill>
                  <a:schemeClr val="tx2"/>
                </a:solidFill>
              </a:rPr>
              <a:t>Zeroth review </a:t>
            </a:r>
          </a:p>
          <a:p>
            <a:pPr>
              <a:defRPr/>
            </a:pPr>
            <a:r>
              <a:rPr lang="en-US" b="1" dirty="0">
                <a:solidFill>
                  <a:srgbClr val="7030A0"/>
                </a:solidFill>
              </a:rPr>
              <a:t>Date               : </a:t>
            </a:r>
            <a:r>
              <a:rPr lang="en-US" b="1" dirty="0">
                <a:solidFill>
                  <a:schemeClr val="tx2"/>
                </a:solidFill>
              </a:rPr>
              <a:t>26/07/2025</a:t>
            </a:r>
            <a:endParaRPr lang="en-US" dirty="0">
              <a:solidFill>
                <a:schemeClr val="tx2"/>
              </a:solidFill>
            </a:endParaRPr>
          </a:p>
        </p:txBody>
      </p:sp>
      <p:sp>
        <p:nvSpPr>
          <p:cNvPr id="2" name="Rectangle 1"/>
          <p:cNvSpPr/>
          <p:nvPr/>
        </p:nvSpPr>
        <p:spPr>
          <a:xfrm>
            <a:off x="4427984" y="620688"/>
            <a:ext cx="2664296" cy="1440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rgbClr val="0000CC"/>
                </a:solidFill>
              </a:rPr>
              <a:t>Reaccredited by NAAC with A+ grade]</a:t>
            </a:r>
            <a:endParaRPr lang="en-IN" sz="1200" b="1" dirty="0">
              <a:solidFill>
                <a:srgbClr val="0000CC"/>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0" y="274638"/>
            <a:ext cx="8686800" cy="1143000"/>
          </a:xfrm>
        </p:spPr>
        <p:txBody>
          <a:bodyPr/>
          <a:lstStyle/>
          <a:p>
            <a:pPr eaLnBrk="1" hangingPunct="1"/>
            <a:r>
              <a:rPr lang="en-IN" sz="2800" b="1">
                <a:solidFill>
                  <a:srgbClr val="7030A0"/>
                </a:solidFill>
                <a:latin typeface="Arial" panose="020B0604020202020204" pitchFamily="34" charset="0"/>
                <a:cs typeface="Arial" panose="020B0604020202020204" pitchFamily="34" charset="0"/>
              </a:rPr>
              <a:t> Contents</a:t>
            </a:r>
          </a:p>
        </p:txBody>
      </p:sp>
      <p:sp>
        <p:nvSpPr>
          <p:cNvPr id="6147" name="Slide Number Placeholder 3"/>
          <p:cNvSpPr>
            <a:spLocks noGrp="1"/>
          </p:cNvSpPr>
          <p:nvPr>
            <p:ph type="sldNum" sz="quarter" idx="12"/>
          </p:nvPr>
        </p:nvSpPr>
        <p:spPr bwMode="auto">
          <a:xfrm>
            <a:off x="6572250" y="6492875"/>
            <a:ext cx="2133600" cy="431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A479332-45A7-4D8A-AF47-7584566C1E36}" type="slidenum">
              <a:rPr lang="en-IN" sz="1200" smtClean="0"/>
              <a:pPr>
                <a:spcBef>
                  <a:spcPct val="0"/>
                </a:spcBef>
                <a:buFontTx/>
                <a:buNone/>
              </a:pPr>
              <a:t>2</a:t>
            </a:fld>
            <a:endParaRPr lang="en-IN" sz="120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3158565902"/>
              </p:ext>
            </p:extLst>
          </p:nvPr>
        </p:nvGraphicFramePr>
        <p:xfrm>
          <a:off x="457200" y="1600200"/>
          <a:ext cx="8229600" cy="2966152"/>
        </p:xfrm>
        <a:graphic>
          <a:graphicData uri="http://schemas.openxmlformats.org/drawingml/2006/table">
            <a:tbl>
              <a:tblPr firstRow="1" bandRow="1">
                <a:tableStyleId>{5C22544A-7EE6-4342-B048-85BDC9FD1C3A}</a:tableStyleId>
              </a:tblPr>
              <a:tblGrid>
                <a:gridCol w="1018456">
                  <a:extLst>
                    <a:ext uri="{9D8B030D-6E8A-4147-A177-3AD203B41FA5}">
                      <a16:colId xmlns:a16="http://schemas.microsoft.com/office/drawing/2014/main" val="20000"/>
                    </a:ext>
                  </a:extLst>
                </a:gridCol>
                <a:gridCol w="5472608">
                  <a:extLst>
                    <a:ext uri="{9D8B030D-6E8A-4147-A177-3AD203B41FA5}">
                      <a16:colId xmlns:a16="http://schemas.microsoft.com/office/drawing/2014/main" val="20001"/>
                    </a:ext>
                  </a:extLst>
                </a:gridCol>
                <a:gridCol w="1738536">
                  <a:extLst>
                    <a:ext uri="{9D8B030D-6E8A-4147-A177-3AD203B41FA5}">
                      <a16:colId xmlns:a16="http://schemas.microsoft.com/office/drawing/2014/main" val="20002"/>
                    </a:ext>
                  </a:extLst>
                </a:gridCol>
              </a:tblGrid>
              <a:tr h="370769">
                <a:tc>
                  <a:txBody>
                    <a:bodyPr/>
                    <a:lstStyle/>
                    <a:p>
                      <a:pPr algn="ctr"/>
                      <a:r>
                        <a:rPr lang="en-US" sz="1800" dirty="0" err="1">
                          <a:latin typeface="Times New Roman" panose="02020603050405020304" pitchFamily="18" charset="0"/>
                          <a:cs typeface="Times New Roman" panose="02020603050405020304" pitchFamily="18" charset="0"/>
                        </a:rPr>
                        <a:t>S.No</a:t>
                      </a:r>
                      <a:endParaRPr lang="en-US" sz="1800" dirty="0">
                        <a:latin typeface="Times New Roman" panose="02020603050405020304" pitchFamily="18" charset="0"/>
                        <a:cs typeface="Times New Roman" panose="02020603050405020304" pitchFamily="18" charset="0"/>
                      </a:endParaRPr>
                    </a:p>
                  </a:txBody>
                  <a:tcPr marT="45712" marB="45712"/>
                </a:tc>
                <a:tc>
                  <a:txBody>
                    <a:bodyPr/>
                    <a:lstStyle/>
                    <a:p>
                      <a:pPr algn="ctr"/>
                      <a:r>
                        <a:rPr lang="en-US" sz="1800" dirty="0">
                          <a:latin typeface="Times New Roman" panose="02020603050405020304" pitchFamily="18" charset="0"/>
                          <a:cs typeface="Times New Roman" panose="02020603050405020304" pitchFamily="18" charset="0"/>
                        </a:rPr>
                        <a:t>Description</a:t>
                      </a:r>
                      <a:r>
                        <a:rPr lang="en-US" sz="1800" baseline="0" dirty="0">
                          <a:latin typeface="Times New Roman" panose="02020603050405020304" pitchFamily="18" charset="0"/>
                          <a:cs typeface="Times New Roman" panose="02020603050405020304" pitchFamily="18" charset="0"/>
                        </a:rPr>
                        <a:t> </a:t>
                      </a:r>
                      <a:endParaRPr lang="en-US" sz="1800" dirty="0">
                        <a:latin typeface="Times New Roman" panose="02020603050405020304" pitchFamily="18" charset="0"/>
                        <a:cs typeface="Times New Roman" panose="02020603050405020304" pitchFamily="18" charset="0"/>
                      </a:endParaRPr>
                    </a:p>
                  </a:txBody>
                  <a:tcPr marT="45712" marB="45712"/>
                </a:tc>
                <a:tc>
                  <a:txBody>
                    <a:bodyPr/>
                    <a:lstStyle/>
                    <a:p>
                      <a:pPr algn="ctr"/>
                      <a:r>
                        <a:rPr lang="en-US" sz="1800" dirty="0">
                          <a:latin typeface="Times New Roman" panose="02020603050405020304" pitchFamily="18" charset="0"/>
                          <a:cs typeface="Times New Roman" panose="02020603050405020304" pitchFamily="18" charset="0"/>
                        </a:rPr>
                        <a:t>Slide Number</a:t>
                      </a:r>
                    </a:p>
                  </a:txBody>
                  <a:tcPr marT="45712" marB="45712"/>
                </a:tc>
                <a:extLst>
                  <a:ext uri="{0D108BD9-81ED-4DB2-BD59-A6C34878D82A}">
                    <a16:rowId xmlns:a16="http://schemas.microsoft.com/office/drawing/2014/main" val="10000"/>
                  </a:ext>
                </a:extLst>
              </a:tr>
              <a:tr h="370769">
                <a:tc>
                  <a:txBody>
                    <a:bodyPr/>
                    <a:lstStyle/>
                    <a:p>
                      <a:pPr algn="ctr"/>
                      <a:r>
                        <a:rPr lang="en-US" sz="1800" dirty="0">
                          <a:latin typeface="Times New Roman" panose="02020603050405020304" pitchFamily="18" charset="0"/>
                          <a:cs typeface="Times New Roman" panose="02020603050405020304" pitchFamily="18" charset="0"/>
                        </a:rPr>
                        <a:t>1</a:t>
                      </a:r>
                    </a:p>
                  </a:txBody>
                  <a:tcPr marT="45712" marB="45712"/>
                </a:tc>
                <a:tc>
                  <a:txBody>
                    <a:bodyPr/>
                    <a:lstStyle/>
                    <a:p>
                      <a:r>
                        <a:rPr lang="en-US" sz="1800" dirty="0">
                          <a:latin typeface="Times New Roman" panose="02020603050405020304" pitchFamily="18" charset="0"/>
                          <a:cs typeface="Times New Roman" panose="02020603050405020304" pitchFamily="18" charset="0"/>
                        </a:rPr>
                        <a:t>Introduction</a:t>
                      </a:r>
                    </a:p>
                  </a:txBody>
                  <a:tcPr marT="45712" marB="45712"/>
                </a:tc>
                <a:tc>
                  <a:txBody>
                    <a:bodyPr/>
                    <a:lstStyle/>
                    <a:p>
                      <a:r>
                        <a:rPr lang="en-US" sz="1800" dirty="0">
                          <a:latin typeface="Times New Roman" panose="02020603050405020304" pitchFamily="18" charset="0"/>
                          <a:cs typeface="Times New Roman" panose="02020603050405020304" pitchFamily="18" charset="0"/>
                        </a:rPr>
                        <a:t>3</a:t>
                      </a:r>
                    </a:p>
                  </a:txBody>
                  <a:tcPr marT="45712" marB="45712"/>
                </a:tc>
                <a:extLst>
                  <a:ext uri="{0D108BD9-81ED-4DB2-BD59-A6C34878D82A}">
                    <a16:rowId xmlns:a16="http://schemas.microsoft.com/office/drawing/2014/main" val="10001"/>
                  </a:ext>
                </a:extLst>
              </a:tr>
              <a:tr h="370769">
                <a:tc>
                  <a:txBody>
                    <a:bodyPr/>
                    <a:lstStyle/>
                    <a:p>
                      <a:pPr algn="ctr"/>
                      <a:r>
                        <a:rPr lang="en-US" sz="1800" dirty="0">
                          <a:latin typeface="Times New Roman" panose="02020603050405020304" pitchFamily="18" charset="0"/>
                          <a:cs typeface="Times New Roman" panose="02020603050405020304" pitchFamily="18" charset="0"/>
                        </a:rPr>
                        <a:t>2</a:t>
                      </a:r>
                    </a:p>
                  </a:txBody>
                  <a:tcPr marT="45712" marB="45712"/>
                </a:tc>
                <a:tc>
                  <a:txBody>
                    <a:bodyPr/>
                    <a:lstStyle/>
                    <a:p>
                      <a:r>
                        <a:rPr lang="en-US" sz="1800" dirty="0">
                          <a:latin typeface="Times New Roman" panose="02020603050405020304" pitchFamily="18" charset="0"/>
                          <a:cs typeface="Times New Roman" panose="02020603050405020304" pitchFamily="18" charset="0"/>
                        </a:rPr>
                        <a:t>Existing technology of the project</a:t>
                      </a:r>
                    </a:p>
                  </a:txBody>
                  <a:tcPr marT="45712" marB="45712"/>
                </a:tc>
                <a:tc>
                  <a:txBody>
                    <a:bodyPr/>
                    <a:lstStyle/>
                    <a:p>
                      <a:r>
                        <a:rPr lang="en-US" sz="1800" dirty="0">
                          <a:latin typeface="Times New Roman" panose="02020603050405020304" pitchFamily="18" charset="0"/>
                          <a:cs typeface="Times New Roman" panose="02020603050405020304" pitchFamily="18" charset="0"/>
                        </a:rPr>
                        <a:t>4</a:t>
                      </a:r>
                    </a:p>
                  </a:txBody>
                  <a:tcPr marT="45712" marB="45712"/>
                </a:tc>
                <a:extLst>
                  <a:ext uri="{0D108BD9-81ED-4DB2-BD59-A6C34878D82A}">
                    <a16:rowId xmlns:a16="http://schemas.microsoft.com/office/drawing/2014/main" val="10002"/>
                  </a:ext>
                </a:extLst>
              </a:tr>
              <a:tr h="370769">
                <a:tc>
                  <a:txBody>
                    <a:bodyPr/>
                    <a:lstStyle/>
                    <a:p>
                      <a:pPr algn="ctr"/>
                      <a:r>
                        <a:rPr lang="en-US" sz="1800" dirty="0">
                          <a:latin typeface="Times New Roman" panose="02020603050405020304" pitchFamily="18" charset="0"/>
                          <a:cs typeface="Times New Roman" panose="02020603050405020304" pitchFamily="18" charset="0"/>
                        </a:rPr>
                        <a:t>3</a:t>
                      </a:r>
                    </a:p>
                  </a:txBody>
                  <a:tcPr marT="45712" marB="45712"/>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Problem</a:t>
                      </a:r>
                      <a:r>
                        <a:rPr lang="en-US" sz="1800" baseline="0" dirty="0">
                          <a:latin typeface="Times New Roman" panose="02020603050405020304" pitchFamily="18" charset="0"/>
                          <a:cs typeface="Times New Roman" panose="02020603050405020304" pitchFamily="18" charset="0"/>
                        </a:rPr>
                        <a:t> identification, scope and objective</a:t>
                      </a:r>
                      <a:endParaRPr lang="en-US" sz="1800" dirty="0">
                        <a:latin typeface="Times New Roman" panose="02020603050405020304" pitchFamily="18" charset="0"/>
                        <a:cs typeface="Times New Roman" panose="02020603050405020304" pitchFamily="18" charset="0"/>
                      </a:endParaRPr>
                    </a:p>
                  </a:txBody>
                  <a:tcPr marT="45712" marB="45712"/>
                </a:tc>
                <a:tc>
                  <a:txBody>
                    <a:bodyPr/>
                    <a:lstStyle/>
                    <a:p>
                      <a:r>
                        <a:rPr lang="en-US" sz="1800" dirty="0">
                          <a:latin typeface="Times New Roman" panose="02020603050405020304" pitchFamily="18" charset="0"/>
                          <a:cs typeface="Times New Roman" panose="02020603050405020304" pitchFamily="18" charset="0"/>
                        </a:rPr>
                        <a:t>9</a:t>
                      </a:r>
                    </a:p>
                  </a:txBody>
                  <a:tcPr marT="45712" marB="45712"/>
                </a:tc>
                <a:extLst>
                  <a:ext uri="{0D108BD9-81ED-4DB2-BD59-A6C34878D82A}">
                    <a16:rowId xmlns:a16="http://schemas.microsoft.com/office/drawing/2014/main" val="10003"/>
                  </a:ext>
                </a:extLst>
              </a:tr>
              <a:tr h="370769">
                <a:tc>
                  <a:txBody>
                    <a:bodyPr/>
                    <a:lstStyle/>
                    <a:p>
                      <a:pPr algn="ctr"/>
                      <a:r>
                        <a:rPr lang="en-US" sz="1800" dirty="0">
                          <a:latin typeface="Times New Roman" panose="02020603050405020304" pitchFamily="18" charset="0"/>
                          <a:cs typeface="Times New Roman" panose="02020603050405020304" pitchFamily="18" charset="0"/>
                        </a:rPr>
                        <a:t>4</a:t>
                      </a:r>
                    </a:p>
                  </a:txBody>
                  <a:tcPr marT="45712" marB="45712"/>
                </a:tc>
                <a:tc>
                  <a:txBody>
                    <a:bodyPr/>
                    <a:lstStyle/>
                    <a:p>
                      <a:r>
                        <a:rPr lang="en-US" sz="1800" dirty="0">
                          <a:latin typeface="Times New Roman" panose="02020603050405020304" pitchFamily="18" charset="0"/>
                          <a:cs typeface="Times New Roman" panose="02020603050405020304" pitchFamily="18" charset="0"/>
                        </a:rPr>
                        <a:t>Methodology </a:t>
                      </a:r>
                    </a:p>
                  </a:txBody>
                  <a:tcPr marT="45712" marB="45712"/>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10</a:t>
                      </a:r>
                    </a:p>
                  </a:txBody>
                  <a:tcPr marT="45712" marB="45712"/>
                </a:tc>
                <a:extLst>
                  <a:ext uri="{0D108BD9-81ED-4DB2-BD59-A6C34878D82A}">
                    <a16:rowId xmlns:a16="http://schemas.microsoft.com/office/drawing/2014/main" val="10004"/>
                  </a:ext>
                </a:extLst>
              </a:tr>
              <a:tr h="370769">
                <a:tc>
                  <a:txBody>
                    <a:bodyPr/>
                    <a:lstStyle/>
                    <a:p>
                      <a:pPr algn="ctr"/>
                      <a:r>
                        <a:rPr lang="en-US" sz="1800" dirty="0">
                          <a:latin typeface="Times New Roman" panose="02020603050405020304" pitchFamily="18" charset="0"/>
                          <a:cs typeface="Times New Roman" panose="02020603050405020304" pitchFamily="18" charset="0"/>
                        </a:rPr>
                        <a:t>5</a:t>
                      </a:r>
                    </a:p>
                  </a:txBody>
                  <a:tcPr marT="45712" marB="45712"/>
                </a:tc>
                <a:tc>
                  <a:txBody>
                    <a:bodyPr/>
                    <a:lstStyle/>
                    <a:p>
                      <a:r>
                        <a:rPr lang="en-US" sz="1800" dirty="0">
                          <a:latin typeface="Times New Roman" panose="02020603050405020304" pitchFamily="18" charset="0"/>
                          <a:cs typeface="Times New Roman" panose="02020603050405020304" pitchFamily="18" charset="0"/>
                        </a:rPr>
                        <a:t>Timeline </a:t>
                      </a:r>
                    </a:p>
                  </a:txBody>
                  <a:tcPr marT="45712" marB="45712"/>
                </a:tc>
                <a:tc>
                  <a:txBody>
                    <a:bodyPr/>
                    <a:lstStyle/>
                    <a:p>
                      <a:r>
                        <a:rPr lang="en-US" sz="1800" dirty="0">
                          <a:latin typeface="Times New Roman" panose="02020603050405020304" pitchFamily="18" charset="0"/>
                          <a:cs typeface="Times New Roman" panose="02020603050405020304" pitchFamily="18" charset="0"/>
                        </a:rPr>
                        <a:t>11</a:t>
                      </a:r>
                    </a:p>
                  </a:txBody>
                  <a:tcPr marT="45712" marB="45712"/>
                </a:tc>
                <a:extLst>
                  <a:ext uri="{0D108BD9-81ED-4DB2-BD59-A6C34878D82A}">
                    <a16:rowId xmlns:a16="http://schemas.microsoft.com/office/drawing/2014/main" val="10005"/>
                  </a:ext>
                </a:extLst>
              </a:tr>
              <a:tr h="370769">
                <a:tc>
                  <a:txBody>
                    <a:bodyPr/>
                    <a:lstStyle/>
                    <a:p>
                      <a:pPr algn="ctr"/>
                      <a:r>
                        <a:rPr lang="en-US" sz="1800" dirty="0">
                          <a:latin typeface="Times New Roman" panose="02020603050405020304" pitchFamily="18" charset="0"/>
                          <a:cs typeface="Times New Roman" panose="02020603050405020304" pitchFamily="18" charset="0"/>
                        </a:rPr>
                        <a:t>6</a:t>
                      </a:r>
                    </a:p>
                  </a:txBody>
                  <a:tcPr marT="45712" marB="45712"/>
                </a:tc>
                <a:tc>
                  <a:txBody>
                    <a:bodyPr/>
                    <a:lstStyle/>
                    <a:p>
                      <a:r>
                        <a:rPr lang="en-US" sz="1800" dirty="0">
                          <a:latin typeface="Times New Roman" panose="02020603050405020304" pitchFamily="18" charset="0"/>
                          <a:cs typeface="Times New Roman" panose="02020603050405020304" pitchFamily="18" charset="0"/>
                        </a:rPr>
                        <a:t>Proposed Outcome and budget</a:t>
                      </a:r>
                    </a:p>
                  </a:txBody>
                  <a:tcPr marT="45712" marB="45712"/>
                </a:tc>
                <a:tc>
                  <a:txBody>
                    <a:bodyPr/>
                    <a:lstStyle/>
                    <a:p>
                      <a:r>
                        <a:rPr lang="en-US" sz="1800" dirty="0">
                          <a:latin typeface="Times New Roman" panose="02020603050405020304" pitchFamily="18" charset="0"/>
                          <a:cs typeface="Times New Roman" panose="02020603050405020304" pitchFamily="18" charset="0"/>
                        </a:rPr>
                        <a:t>13</a:t>
                      </a:r>
                    </a:p>
                  </a:txBody>
                  <a:tcPr marT="45712" marB="45712"/>
                </a:tc>
                <a:extLst>
                  <a:ext uri="{0D108BD9-81ED-4DB2-BD59-A6C34878D82A}">
                    <a16:rowId xmlns:a16="http://schemas.microsoft.com/office/drawing/2014/main" val="10006"/>
                  </a:ext>
                </a:extLst>
              </a:tr>
              <a:tr h="370769">
                <a:tc>
                  <a:txBody>
                    <a:bodyPr/>
                    <a:lstStyle/>
                    <a:p>
                      <a:pPr algn="ctr"/>
                      <a:r>
                        <a:rPr lang="en-US" sz="1800" dirty="0">
                          <a:latin typeface="Times New Roman" panose="02020603050405020304" pitchFamily="18" charset="0"/>
                          <a:cs typeface="Times New Roman" panose="02020603050405020304" pitchFamily="18" charset="0"/>
                        </a:rPr>
                        <a:t>7</a:t>
                      </a:r>
                    </a:p>
                  </a:txBody>
                  <a:tcPr marT="45712" marB="45712"/>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References</a:t>
                      </a:r>
                    </a:p>
                  </a:txBody>
                  <a:tcPr marT="45712" marB="45712"/>
                </a:tc>
                <a:tc>
                  <a:txBody>
                    <a:bodyPr/>
                    <a:lstStyle/>
                    <a:p>
                      <a:r>
                        <a:rPr lang="en-US" sz="1800" dirty="0">
                          <a:latin typeface="Times New Roman" panose="02020603050405020304" pitchFamily="18" charset="0"/>
                          <a:cs typeface="Times New Roman" panose="02020603050405020304" pitchFamily="18" charset="0"/>
                        </a:rPr>
                        <a:t>14</a:t>
                      </a:r>
                    </a:p>
                  </a:txBody>
                  <a:tcPr marT="45712" marB="45712"/>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796004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r>
              <a:rPr lang="en-US" sz="2800" b="1" dirty="0">
                <a:solidFill>
                  <a:srgbClr val="7030A0"/>
                </a:solidFill>
                <a:latin typeface="Arial" panose="020B0604020202020204" pitchFamily="34" charset="0"/>
                <a:cs typeface="Arial" panose="020B0604020202020204" pitchFamily="34" charset="0"/>
              </a:rPr>
              <a:t>Introduction</a:t>
            </a:r>
          </a:p>
        </p:txBody>
      </p:sp>
      <p:sp>
        <p:nvSpPr>
          <p:cNvPr id="8195" name="Content Placeholder 2"/>
          <p:cNvSpPr>
            <a:spLocks noGrp="1"/>
          </p:cNvSpPr>
          <p:nvPr>
            <p:ph idx="1"/>
          </p:nvPr>
        </p:nvSpPr>
        <p:spPr>
          <a:xfrm>
            <a:off x="179512" y="1417638"/>
            <a:ext cx="8507288" cy="5107706"/>
          </a:xfrm>
        </p:spPr>
        <p:txBody>
          <a:bodyPr>
            <a:noAutofit/>
          </a:bodyPr>
          <a:lstStyle/>
          <a:p>
            <a:pPr marL="457200" lvl="1" indent="0" algn="just">
              <a:buNone/>
            </a:pPr>
            <a:r>
              <a:rPr lang="en-GB" sz="1800" dirty="0"/>
              <a:t>	Water scarcity and inefficient agricultural practices appear to that the course of sustainable farming. Conventional-irrigation systems work on fixed timing schedules, or decisions are made by human intervention. Such practices lead to overwatering or under-watering of crops, which adversely affects crop yield while also wasting an invaluable resource-water. With the advent of Artificial Intelligence, Machine Learning, and smart sensing technologies comes a promise to cure the problem. This project of smart irrigation scheduler using weather forecast and soil moisture intends to tailor irrigation methods according to water needs predicted from real-time environmental parameters and past data. A machine learning model trained on datasets from various sources of soil moisture, temperature, humidity, and rainfall forecasts enables the system to intelligently decide whether irrigation is required. To minimize human intervention and save water and to promote efficient agricultural practice based on numbers, this is the correct system. The system can work for farms, greenhouses, or gardens and provide a scalable and sustainable option for smart irrigation management.</a:t>
            </a:r>
          </a:p>
        </p:txBody>
      </p:sp>
      <p:sp>
        <p:nvSpPr>
          <p:cNvPr id="8196"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B4464E10-AB48-4C00-8A6A-730BF03530A6}" type="slidenum">
              <a:rPr lang="en-IN" sz="1200" smtClean="0">
                <a:solidFill>
                  <a:srgbClr val="898989"/>
                </a:solidFill>
              </a:rPr>
              <a:pPr>
                <a:spcBef>
                  <a:spcPct val="0"/>
                </a:spcBef>
                <a:buFontTx/>
                <a:buNone/>
              </a:pPr>
              <a:t>3</a:t>
            </a:fld>
            <a:endParaRPr lang="en-IN" sz="1200">
              <a:solidFill>
                <a:srgbClr val="898989"/>
              </a:solidFill>
            </a:endParaRPr>
          </a:p>
        </p:txBody>
      </p:sp>
    </p:spTree>
    <p:extLst>
      <p:ext uri="{BB962C8B-B14F-4D97-AF65-F5344CB8AC3E}">
        <p14:creationId xmlns:p14="http://schemas.microsoft.com/office/powerpoint/2010/main" val="11056937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r>
              <a:rPr lang="en-US" sz="2800" b="1" dirty="0">
                <a:solidFill>
                  <a:srgbClr val="7030A0"/>
                </a:solidFill>
                <a:latin typeface="Arial" panose="020B0604020202020204" pitchFamily="34" charset="0"/>
                <a:cs typeface="Arial" panose="020B0604020202020204" pitchFamily="34" charset="0"/>
              </a:rPr>
              <a:t>Current technology of the project</a:t>
            </a:r>
            <a:br>
              <a:rPr lang="en-US" sz="2800" b="1" dirty="0">
                <a:solidFill>
                  <a:srgbClr val="7030A0"/>
                </a:solidFill>
                <a:latin typeface="Arial" panose="020B0604020202020204" pitchFamily="34" charset="0"/>
                <a:cs typeface="Arial" panose="020B0604020202020204" pitchFamily="34" charset="0"/>
              </a:rPr>
            </a:br>
            <a:endParaRPr lang="en-US" sz="2800" b="1" dirty="0">
              <a:solidFill>
                <a:srgbClr val="7030A0"/>
              </a:solidFill>
              <a:latin typeface="Arial" panose="020B0604020202020204" pitchFamily="34" charset="0"/>
              <a:cs typeface="Arial" panose="020B0604020202020204" pitchFamily="34" charset="0"/>
            </a:endParaRPr>
          </a:p>
        </p:txBody>
      </p:sp>
      <p:sp>
        <p:nvSpPr>
          <p:cNvPr id="9219" name="Content Placeholder 2"/>
          <p:cNvSpPr>
            <a:spLocks noGrp="1"/>
          </p:cNvSpPr>
          <p:nvPr>
            <p:ph idx="1"/>
          </p:nvPr>
        </p:nvSpPr>
        <p:spPr/>
        <p:txBody>
          <a:bodyPr>
            <a:normAutofit fontScale="85000" lnSpcReduction="20000"/>
          </a:bodyPr>
          <a:lstStyle/>
          <a:p>
            <a:pPr marL="0" indent="0" algn="just">
              <a:buFont typeface="Arial" panose="020B0604020202020204" pitchFamily="34" charset="0"/>
              <a:buNone/>
            </a:pPr>
            <a:r>
              <a:rPr lang="en-GB" sz="2300" dirty="0"/>
              <a:t>	The study under review deeply explored advanced field-based irrigation scheduling methods using high-resolution weather forecast data coupled with soil moisture </a:t>
            </a:r>
            <a:r>
              <a:rPr lang="en-GB" sz="2300" dirty="0" err="1"/>
              <a:t>modeling</a:t>
            </a:r>
            <a:r>
              <a:rPr lang="en-GB" sz="2300" dirty="0"/>
              <a:t>. Contrary to mere IoT-type irrigation systems, this work considered a properly validated crop-water balance model coupled with real-time meteorological forecasts in the decision-making process for irrigation application. Field tests were carried out over different seasons to check for operational water efficiency and crop productivity. The work emphasizes the potential of predictive models over rule-based systems and provides some practical frameworks that could be employed to integrate forecasting in large-scale irrigation planning for farms.</a:t>
            </a:r>
            <a:endParaRPr lang="en-US" sz="2400" dirty="0"/>
          </a:p>
          <a:p>
            <a:pPr marL="0" indent="0">
              <a:buFont typeface="Arial" panose="020B0604020202020204" pitchFamily="34" charset="0"/>
              <a:buNone/>
            </a:pPr>
            <a:endParaRPr lang="en-US" sz="2400" dirty="0"/>
          </a:p>
          <a:p>
            <a:pPr marL="0" indent="0">
              <a:buFont typeface="Arial" panose="020B0604020202020204" pitchFamily="34" charset="0"/>
              <a:buNone/>
            </a:pPr>
            <a:endParaRPr lang="en-US" sz="2400" dirty="0"/>
          </a:p>
          <a:p>
            <a:pPr marL="0" indent="0">
              <a:buFont typeface="Arial" panose="020B0604020202020204" pitchFamily="34" charset="0"/>
              <a:buNone/>
            </a:pPr>
            <a:endParaRPr lang="en-US" sz="2400" dirty="0"/>
          </a:p>
          <a:p>
            <a:pPr marL="0" indent="0">
              <a:buFont typeface="Arial" panose="020B0604020202020204" pitchFamily="34" charset="0"/>
              <a:buNone/>
            </a:pPr>
            <a:endParaRPr lang="en-US" sz="2400" dirty="0"/>
          </a:p>
          <a:p>
            <a:pPr marL="0" indent="0">
              <a:buNone/>
            </a:pPr>
            <a:r>
              <a:rPr lang="en-US" sz="2400" dirty="0">
                <a:solidFill>
                  <a:srgbClr val="FF0000"/>
                </a:solidFill>
              </a:rPr>
              <a:t>Source:</a:t>
            </a:r>
            <a:r>
              <a:rPr lang="en-US" sz="2400" dirty="0"/>
              <a:t> </a:t>
            </a:r>
            <a:r>
              <a:rPr lang="en-GB" sz="2100" dirty="0"/>
              <a:t>“” </a:t>
            </a:r>
            <a:r>
              <a:rPr lang="en-GB" sz="1900" dirty="0"/>
              <a:t>Jamal, U. A., et al., published in </a:t>
            </a:r>
            <a:r>
              <a:rPr lang="en-GB" sz="1900" i="1" dirty="0"/>
              <a:t>Water Resources Research</a:t>
            </a:r>
            <a:r>
              <a:rPr lang="en-GB" sz="1900" dirty="0"/>
              <a:t> (AGU), </a:t>
            </a:r>
            <a:r>
              <a:rPr lang="en-GB" sz="1900" dirty="0" err="1"/>
              <a:t>Vo</a:t>
            </a:r>
            <a:r>
              <a:rPr lang="en-GB" sz="2000" dirty="0" err="1"/>
              <a:t>Real</a:t>
            </a:r>
            <a:r>
              <a:rPr lang="en-GB" sz="2000" dirty="0"/>
              <a:t>‐Time Irrigation Scheduling Based on Weather Forecasts: Field Observations and </a:t>
            </a:r>
            <a:r>
              <a:rPr lang="en-GB" sz="2000" dirty="0" err="1"/>
              <a:t>Modeling</a:t>
            </a:r>
            <a:r>
              <a:rPr lang="en-GB" sz="1900" dirty="0" err="1"/>
              <a:t>l</a:t>
            </a:r>
            <a:r>
              <a:rPr lang="en-GB" sz="1900" dirty="0"/>
              <a:t>. 59, Issue 11, Article e2023WR034276 (2023); Scopus-indexed </a:t>
            </a:r>
          </a:p>
          <a:p>
            <a:pPr marL="0" indent="0">
              <a:buFont typeface="Arial" panose="020B0604020202020204" pitchFamily="34" charset="0"/>
              <a:buNone/>
            </a:pPr>
            <a:endParaRPr lang="en-US" sz="2400" dirty="0"/>
          </a:p>
        </p:txBody>
      </p:sp>
      <p:sp>
        <p:nvSpPr>
          <p:cNvPr id="922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E70BF35-1420-42AA-97E0-CDD574E5E82B}" type="slidenum">
              <a:rPr lang="en-IN" sz="1200" smtClean="0">
                <a:solidFill>
                  <a:srgbClr val="898989"/>
                </a:solidFill>
              </a:rPr>
              <a:pPr>
                <a:spcBef>
                  <a:spcPct val="0"/>
                </a:spcBef>
                <a:buFontTx/>
                <a:buNone/>
              </a:pPr>
              <a:t>4</a:t>
            </a:fld>
            <a:endParaRPr lang="en-IN" sz="1200">
              <a:solidFill>
                <a:srgbClr val="898989"/>
              </a:solidFill>
            </a:endParaRPr>
          </a:p>
        </p:txBody>
      </p:sp>
    </p:spTree>
    <p:extLst>
      <p:ext uri="{BB962C8B-B14F-4D97-AF65-F5344CB8AC3E}">
        <p14:creationId xmlns:p14="http://schemas.microsoft.com/office/powerpoint/2010/main" val="21835849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r>
              <a:rPr lang="en-US" sz="2800" b="1" dirty="0">
                <a:solidFill>
                  <a:srgbClr val="7030A0"/>
                </a:solidFill>
                <a:latin typeface="Arial" panose="020B0604020202020204" pitchFamily="34" charset="0"/>
                <a:cs typeface="Arial" panose="020B0604020202020204" pitchFamily="34" charset="0"/>
              </a:rPr>
              <a:t>Current technology of the project</a:t>
            </a:r>
            <a:br>
              <a:rPr lang="en-US" sz="2800" b="1" dirty="0">
                <a:solidFill>
                  <a:srgbClr val="7030A0"/>
                </a:solidFill>
                <a:latin typeface="Arial" panose="020B0604020202020204" pitchFamily="34" charset="0"/>
                <a:cs typeface="Arial" panose="020B0604020202020204" pitchFamily="34" charset="0"/>
              </a:rPr>
            </a:br>
            <a:endParaRPr lang="en-US" sz="2800" b="1" dirty="0">
              <a:solidFill>
                <a:srgbClr val="7030A0"/>
              </a:solidFill>
              <a:latin typeface="Arial" panose="020B0604020202020204" pitchFamily="34" charset="0"/>
              <a:cs typeface="Arial" panose="020B0604020202020204" pitchFamily="34" charset="0"/>
            </a:endParaRPr>
          </a:p>
        </p:txBody>
      </p:sp>
      <p:sp>
        <p:nvSpPr>
          <p:cNvPr id="9219" name="Content Placeholder 2"/>
          <p:cNvSpPr>
            <a:spLocks noGrp="1"/>
          </p:cNvSpPr>
          <p:nvPr>
            <p:ph idx="1"/>
          </p:nvPr>
        </p:nvSpPr>
        <p:spPr/>
        <p:txBody>
          <a:bodyPr>
            <a:normAutofit fontScale="92500" lnSpcReduction="20000"/>
          </a:bodyPr>
          <a:lstStyle/>
          <a:p>
            <a:pPr marL="0" indent="0" algn="just">
              <a:buFont typeface="Arial" panose="020B0604020202020204" pitchFamily="34" charset="0"/>
              <a:buNone/>
            </a:pPr>
            <a:r>
              <a:rPr lang="en-GB" sz="2100" dirty="0"/>
              <a:t>	The study reveals an advanced intelligent irrigation system which incorporates weather forecast APIs with real-time sensor data. The </a:t>
            </a:r>
            <a:r>
              <a:rPr lang="en-GB" sz="2100" dirty="0" err="1"/>
              <a:t>NodeMCU</a:t>
            </a:r>
            <a:r>
              <a:rPr lang="en-GB" sz="2100" dirty="0"/>
              <a:t> serves to control a water pump based on environmental logic emerging from ground dryness and expected rainfall. A simple mobile interface notifies farmers of the system status and allows manual override. The project provides less human interaction and more water saving through smart irrigation decisions based on live analytics.</a:t>
            </a:r>
            <a:endParaRPr lang="en-US" sz="2100" dirty="0"/>
          </a:p>
          <a:p>
            <a:pPr marL="0" indent="0">
              <a:buFont typeface="Arial" panose="020B0604020202020204" pitchFamily="34" charset="0"/>
              <a:buNone/>
            </a:pPr>
            <a:endParaRPr lang="en-US" sz="2400" dirty="0"/>
          </a:p>
          <a:p>
            <a:pPr marL="0" indent="0">
              <a:buFont typeface="Arial" panose="020B0604020202020204" pitchFamily="34" charset="0"/>
              <a:buNone/>
            </a:pPr>
            <a:endParaRPr lang="en-US" sz="2400" dirty="0"/>
          </a:p>
          <a:p>
            <a:pPr marL="0" indent="0">
              <a:buFont typeface="Arial" panose="020B0604020202020204" pitchFamily="34" charset="0"/>
              <a:buNone/>
            </a:pPr>
            <a:endParaRPr lang="en-US" sz="2400" dirty="0"/>
          </a:p>
          <a:p>
            <a:pPr marL="0" indent="0">
              <a:buFont typeface="Arial" panose="020B0604020202020204" pitchFamily="34" charset="0"/>
              <a:buNone/>
            </a:pPr>
            <a:endParaRPr lang="en-US" sz="2400" dirty="0"/>
          </a:p>
          <a:p>
            <a:pPr marL="0" indent="0">
              <a:buFont typeface="Arial" panose="020B0604020202020204" pitchFamily="34" charset="0"/>
              <a:buNone/>
            </a:pPr>
            <a:endParaRPr lang="en-US" sz="2400" dirty="0"/>
          </a:p>
          <a:p>
            <a:pPr marL="0" indent="0">
              <a:buFont typeface="Arial" panose="020B0604020202020204" pitchFamily="34" charset="0"/>
              <a:buNone/>
            </a:pPr>
            <a:endParaRPr lang="en-US" sz="2400" dirty="0"/>
          </a:p>
          <a:p>
            <a:pPr marL="0" indent="0">
              <a:buNone/>
            </a:pPr>
            <a:r>
              <a:rPr lang="en-US" sz="2400" dirty="0">
                <a:solidFill>
                  <a:srgbClr val="FF0000"/>
                </a:solidFill>
              </a:rPr>
              <a:t>Source:</a:t>
            </a:r>
            <a:r>
              <a:rPr lang="en-US" sz="2400" dirty="0"/>
              <a:t> </a:t>
            </a:r>
            <a:r>
              <a:rPr lang="en-GB" sz="1200" dirty="0"/>
              <a:t>“</a:t>
            </a:r>
            <a:r>
              <a:rPr lang="en-GB" sz="1900" dirty="0"/>
              <a:t>Smart Irrigation System with Real Time Weather Monitoring” </a:t>
            </a:r>
            <a:r>
              <a:rPr lang="en-IN" sz="1900" dirty="0" err="1"/>
              <a:t>Bhuvaneshwaran</a:t>
            </a:r>
            <a:r>
              <a:rPr lang="en-IN" sz="1900" dirty="0"/>
              <a:t>, P. Rajasekar, M. Saravanan, published in </a:t>
            </a:r>
            <a:r>
              <a:rPr lang="en-IN" sz="1900" i="1" dirty="0"/>
              <a:t>IJNRD</a:t>
            </a:r>
            <a:r>
              <a:rPr lang="en-IN" sz="1900" dirty="0"/>
              <a:t> Vol. 9, Issue 2, pp. 116–120 (2024); not Scopus-indexed.</a:t>
            </a:r>
          </a:p>
          <a:p>
            <a:pPr marL="0" indent="0">
              <a:buFont typeface="Arial" panose="020B0604020202020204" pitchFamily="34" charset="0"/>
              <a:buNone/>
            </a:pPr>
            <a:endParaRPr lang="en-US" sz="2400" dirty="0"/>
          </a:p>
        </p:txBody>
      </p:sp>
      <p:sp>
        <p:nvSpPr>
          <p:cNvPr id="922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E70BF35-1420-42AA-97E0-CDD574E5E82B}" type="slidenum">
              <a:rPr lang="en-IN" sz="1200" smtClean="0">
                <a:solidFill>
                  <a:srgbClr val="898989"/>
                </a:solidFill>
              </a:rPr>
              <a:pPr>
                <a:spcBef>
                  <a:spcPct val="0"/>
                </a:spcBef>
                <a:buFontTx/>
                <a:buNone/>
              </a:pPr>
              <a:t>5</a:t>
            </a:fld>
            <a:endParaRPr lang="en-IN" sz="1200">
              <a:solidFill>
                <a:srgbClr val="898989"/>
              </a:solidFill>
            </a:endParaRPr>
          </a:p>
        </p:txBody>
      </p:sp>
    </p:spTree>
    <p:extLst>
      <p:ext uri="{BB962C8B-B14F-4D97-AF65-F5344CB8AC3E}">
        <p14:creationId xmlns:p14="http://schemas.microsoft.com/office/powerpoint/2010/main" val="21683681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r>
              <a:rPr lang="en-US" sz="2800" b="1" dirty="0">
                <a:solidFill>
                  <a:srgbClr val="7030A0"/>
                </a:solidFill>
                <a:latin typeface="Arial" panose="020B0604020202020204" pitchFamily="34" charset="0"/>
                <a:cs typeface="Arial" panose="020B0604020202020204" pitchFamily="34" charset="0"/>
              </a:rPr>
              <a:t>Current technology of the project</a:t>
            </a:r>
            <a:br>
              <a:rPr lang="en-US" sz="2800" b="1" dirty="0">
                <a:solidFill>
                  <a:srgbClr val="7030A0"/>
                </a:solidFill>
                <a:latin typeface="Arial" panose="020B0604020202020204" pitchFamily="34" charset="0"/>
                <a:cs typeface="Arial" panose="020B0604020202020204" pitchFamily="34" charset="0"/>
              </a:rPr>
            </a:br>
            <a:endParaRPr lang="en-US" sz="2800" b="1" dirty="0">
              <a:solidFill>
                <a:srgbClr val="7030A0"/>
              </a:solidFill>
              <a:latin typeface="Arial" panose="020B0604020202020204" pitchFamily="34" charset="0"/>
              <a:cs typeface="Arial" panose="020B0604020202020204" pitchFamily="34" charset="0"/>
            </a:endParaRPr>
          </a:p>
        </p:txBody>
      </p:sp>
      <p:sp>
        <p:nvSpPr>
          <p:cNvPr id="9219" name="Content Placeholder 2"/>
          <p:cNvSpPr>
            <a:spLocks noGrp="1"/>
          </p:cNvSpPr>
          <p:nvPr>
            <p:ph idx="1"/>
          </p:nvPr>
        </p:nvSpPr>
        <p:spPr/>
        <p:txBody>
          <a:bodyPr>
            <a:normAutofit fontScale="62500" lnSpcReduction="20000"/>
          </a:bodyPr>
          <a:lstStyle/>
          <a:p>
            <a:pPr marL="0" indent="0" algn="just">
              <a:buFont typeface="Arial" panose="020B0604020202020204" pitchFamily="34" charset="0"/>
              <a:buNone/>
            </a:pPr>
            <a:r>
              <a:rPr lang="en-GB" sz="2900" dirty="0"/>
              <a:t>	The research work establishes a pioneering approach in irrigation management wherein it is possible to forecast soil moisture using the consumption charges incurred by pumping based on transmission from SEMs installed in high-density groundwater pumping wells in the North China Plain. The system uses E-</a:t>
            </a:r>
            <a:r>
              <a:rPr lang="en-GB" sz="2900" dirty="0" err="1"/>
              <a:t>Wc</a:t>
            </a:r>
            <a:r>
              <a:rPr lang="en-GB" sz="2900" dirty="0"/>
              <a:t> for converting electricity usage into irrigation time and water amount. The smartphone application, combined with weather data, soil property, and crop requirements, simulates current and forecast soil water levels. It was thoroughly validated in the field on winter wheat and summer maize with excellent accuracy for soil moisture prediction and irrigation timing. It's an affordable and viable option for the entire water management scenario in agriculture and in protecting groundwater.</a:t>
            </a:r>
            <a:endParaRPr lang="en-US" sz="2900" dirty="0"/>
          </a:p>
          <a:p>
            <a:pPr marL="0" indent="0">
              <a:buFont typeface="Arial" panose="020B0604020202020204" pitchFamily="34" charset="0"/>
              <a:buNone/>
            </a:pPr>
            <a:endParaRPr lang="en-US" sz="2400" dirty="0"/>
          </a:p>
          <a:p>
            <a:pPr marL="0" indent="0">
              <a:buFont typeface="Arial" panose="020B0604020202020204" pitchFamily="34" charset="0"/>
              <a:buNone/>
            </a:pPr>
            <a:endParaRPr lang="en-US" sz="2400" dirty="0"/>
          </a:p>
          <a:p>
            <a:pPr marL="0" indent="0">
              <a:buFont typeface="Arial" panose="020B0604020202020204" pitchFamily="34" charset="0"/>
              <a:buNone/>
            </a:pPr>
            <a:endParaRPr lang="en-US" sz="2400" dirty="0"/>
          </a:p>
          <a:p>
            <a:pPr marL="0" indent="0">
              <a:buFont typeface="Arial" panose="020B0604020202020204" pitchFamily="34" charset="0"/>
              <a:buNone/>
            </a:pPr>
            <a:endParaRPr lang="en-US" sz="2400" dirty="0"/>
          </a:p>
          <a:p>
            <a:pPr marL="0" indent="0">
              <a:buFont typeface="Arial" panose="020B0604020202020204" pitchFamily="34" charset="0"/>
              <a:buNone/>
            </a:pPr>
            <a:endParaRPr lang="en-US" sz="2400" dirty="0"/>
          </a:p>
          <a:p>
            <a:pPr marL="0" indent="0">
              <a:buNone/>
            </a:pPr>
            <a:r>
              <a:rPr lang="en-US" sz="2400" dirty="0">
                <a:solidFill>
                  <a:srgbClr val="FF0000"/>
                </a:solidFill>
              </a:rPr>
              <a:t>Source:</a:t>
            </a:r>
            <a:r>
              <a:rPr lang="en-US" sz="2400" dirty="0"/>
              <a:t> </a:t>
            </a:r>
            <a:r>
              <a:rPr lang="en-US" sz="2900" dirty="0"/>
              <a:t>“</a:t>
            </a:r>
            <a:r>
              <a:rPr lang="en-GB" sz="2900" dirty="0"/>
              <a:t>Soil moisture forecasting for precision irrigation management using real-time electricity consumption records” </a:t>
            </a:r>
            <a:r>
              <a:rPr lang="en-IN" sz="2600" dirty="0" err="1"/>
              <a:t>Xudong</a:t>
            </a:r>
            <a:r>
              <a:rPr lang="en-IN" sz="2600" dirty="0"/>
              <a:t> Feng, </a:t>
            </a:r>
            <a:r>
              <a:rPr lang="en-IN" sz="2600" dirty="0" err="1"/>
              <a:t>Shaojie</a:t>
            </a:r>
            <a:r>
              <a:rPr lang="en-IN" sz="2600" dirty="0"/>
              <a:t> Bi, </a:t>
            </a:r>
            <a:r>
              <a:rPr lang="en-IN" sz="2600" dirty="0" err="1"/>
              <a:t>Hongjun</a:t>
            </a:r>
            <a:r>
              <a:rPr lang="en-IN" sz="2600" dirty="0"/>
              <a:t> Li, </a:t>
            </a:r>
            <a:r>
              <a:rPr lang="en-IN" sz="2600" dirty="0" err="1"/>
              <a:t>Yongqing</a:t>
            </a:r>
            <a:r>
              <a:rPr lang="en-IN" sz="2600" dirty="0"/>
              <a:t> Qi, </a:t>
            </a:r>
            <a:r>
              <a:rPr lang="en-IN" sz="2600" dirty="0" err="1"/>
              <a:t>Suying</a:t>
            </a:r>
            <a:r>
              <a:rPr lang="en-IN" sz="2600" dirty="0"/>
              <a:t> Chen, Liwei Shao, published in </a:t>
            </a:r>
            <a:r>
              <a:rPr lang="en-IN" sz="2600" i="1" dirty="0"/>
              <a:t>Agricultural Water Management</a:t>
            </a:r>
            <a:r>
              <a:rPr lang="en-IN" sz="2600" dirty="0"/>
              <a:t>, Vol. 291, Article ID 108656 (2024), available online 29 Dec 2023; Elsevier.</a:t>
            </a:r>
          </a:p>
          <a:p>
            <a:pPr marL="0" indent="0">
              <a:buFont typeface="Arial" panose="020B0604020202020204" pitchFamily="34" charset="0"/>
              <a:buNone/>
            </a:pPr>
            <a:endParaRPr lang="en-US" sz="2400" dirty="0"/>
          </a:p>
        </p:txBody>
      </p:sp>
      <p:sp>
        <p:nvSpPr>
          <p:cNvPr id="922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E70BF35-1420-42AA-97E0-CDD574E5E82B}" type="slidenum">
              <a:rPr lang="en-IN" sz="1200" smtClean="0">
                <a:solidFill>
                  <a:srgbClr val="898989"/>
                </a:solidFill>
              </a:rPr>
              <a:pPr>
                <a:spcBef>
                  <a:spcPct val="0"/>
                </a:spcBef>
                <a:buFontTx/>
                <a:buNone/>
              </a:pPr>
              <a:t>6</a:t>
            </a:fld>
            <a:endParaRPr lang="en-IN" sz="1200">
              <a:solidFill>
                <a:srgbClr val="898989"/>
              </a:solidFill>
            </a:endParaRPr>
          </a:p>
        </p:txBody>
      </p:sp>
    </p:spTree>
    <p:extLst>
      <p:ext uri="{BB962C8B-B14F-4D97-AF65-F5344CB8AC3E}">
        <p14:creationId xmlns:p14="http://schemas.microsoft.com/office/powerpoint/2010/main" val="42376932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r>
              <a:rPr lang="en-US" sz="2800" b="1" dirty="0">
                <a:solidFill>
                  <a:srgbClr val="7030A0"/>
                </a:solidFill>
                <a:latin typeface="Arial" panose="020B0604020202020204" pitchFamily="34" charset="0"/>
                <a:cs typeface="Arial" panose="020B0604020202020204" pitchFamily="34" charset="0"/>
              </a:rPr>
              <a:t>Current technology of the project</a:t>
            </a:r>
            <a:br>
              <a:rPr lang="en-US" sz="2800" b="1" dirty="0">
                <a:solidFill>
                  <a:srgbClr val="7030A0"/>
                </a:solidFill>
                <a:latin typeface="Arial" panose="020B0604020202020204" pitchFamily="34" charset="0"/>
                <a:cs typeface="Arial" panose="020B0604020202020204" pitchFamily="34" charset="0"/>
              </a:rPr>
            </a:br>
            <a:endParaRPr lang="en-US" sz="2800" b="1" dirty="0">
              <a:solidFill>
                <a:srgbClr val="7030A0"/>
              </a:solidFill>
              <a:latin typeface="Arial" panose="020B0604020202020204" pitchFamily="34" charset="0"/>
              <a:cs typeface="Arial" panose="020B0604020202020204" pitchFamily="34" charset="0"/>
            </a:endParaRPr>
          </a:p>
        </p:txBody>
      </p:sp>
      <p:sp>
        <p:nvSpPr>
          <p:cNvPr id="9219" name="Content Placeholder 2"/>
          <p:cNvSpPr>
            <a:spLocks noGrp="1"/>
          </p:cNvSpPr>
          <p:nvPr>
            <p:ph idx="1"/>
          </p:nvPr>
        </p:nvSpPr>
        <p:spPr/>
        <p:txBody>
          <a:bodyPr>
            <a:normAutofit fontScale="62500" lnSpcReduction="20000"/>
          </a:bodyPr>
          <a:lstStyle/>
          <a:p>
            <a:pPr marL="0" indent="0">
              <a:buFont typeface="Arial" panose="020B0604020202020204" pitchFamily="34" charset="0"/>
              <a:buNone/>
            </a:pPr>
            <a:r>
              <a:rPr lang="en-GB" sz="2900" dirty="0"/>
              <a:t>	Agriculture supports most of the population around the world. Places like Punjab in India earn their livelihood based on farming in conjunction with other businesses. But, conventional irrigation procedures lead to wastage of water, environmental degradation, and crop damage. The Smart Irrigation System Using Weather Forecasting is an integration of Arduino Uno and </a:t>
            </a:r>
            <a:r>
              <a:rPr lang="en-GB" sz="2900" dirty="0" err="1"/>
              <a:t>NodeMCU</a:t>
            </a:r>
            <a:r>
              <a:rPr lang="en-GB" sz="2900" dirty="0"/>
              <a:t> with sensors like DHT11, soil moisture, LDR, and raindrop. It provides the option for real-time monitoring and control using the Blynk app. It is also supported by a weather application driving live data from </a:t>
            </a:r>
            <a:r>
              <a:rPr lang="en-GB" sz="2900" dirty="0" err="1"/>
              <a:t>OpenWeatherMap</a:t>
            </a:r>
            <a:r>
              <a:rPr lang="en-GB" sz="2900" dirty="0"/>
              <a:t>. The machine learning model is trained to produce best irrigation schedules to prevent using water unnecessarily before an untimely rain, which would improve crop yield and sustainability. This system ensures a cradle-to-the-grave approach to being cheap, easy to use, and scalable for precision farming to tackle the world water scarcity and bring to improve resource management efficiency.</a:t>
            </a:r>
            <a:endParaRPr lang="en-US" sz="2900" dirty="0"/>
          </a:p>
          <a:p>
            <a:pPr marL="0" indent="0">
              <a:buFont typeface="Arial" panose="020B0604020202020204" pitchFamily="34" charset="0"/>
              <a:buNone/>
            </a:pPr>
            <a:endParaRPr lang="en-US" sz="2400" dirty="0"/>
          </a:p>
          <a:p>
            <a:pPr marL="0" indent="0">
              <a:buFont typeface="Arial" panose="020B0604020202020204" pitchFamily="34" charset="0"/>
              <a:buNone/>
            </a:pPr>
            <a:endParaRPr lang="en-US" sz="2400" dirty="0"/>
          </a:p>
          <a:p>
            <a:pPr marL="0" indent="0">
              <a:buFont typeface="Arial" panose="020B0604020202020204" pitchFamily="34" charset="0"/>
              <a:buNone/>
            </a:pPr>
            <a:endParaRPr lang="en-US" sz="2400" dirty="0"/>
          </a:p>
          <a:p>
            <a:pPr marL="0" indent="0">
              <a:buNone/>
            </a:pPr>
            <a:r>
              <a:rPr lang="en-US" sz="2900" dirty="0">
                <a:solidFill>
                  <a:srgbClr val="FF0000"/>
                </a:solidFill>
              </a:rPr>
              <a:t>Source:</a:t>
            </a:r>
            <a:r>
              <a:rPr lang="en-US" sz="2900" dirty="0"/>
              <a:t> “</a:t>
            </a:r>
            <a:r>
              <a:rPr lang="en-GB" sz="2900" dirty="0"/>
              <a:t>IoT Based Smart Irrigation System Using Weather Forecasting</a:t>
            </a:r>
            <a:r>
              <a:rPr lang="en-US" sz="2900" dirty="0"/>
              <a:t>”</a:t>
            </a:r>
            <a:r>
              <a:rPr lang="en-GB" sz="2900" dirty="0"/>
              <a:t>Nitesh Yadav (Lovely Professional University), published in </a:t>
            </a:r>
            <a:r>
              <a:rPr lang="en-GB" sz="2900" i="1" dirty="0"/>
              <a:t>IJSR</a:t>
            </a:r>
            <a:r>
              <a:rPr lang="en-GB" sz="2900" dirty="0"/>
              <a:t>, Vol. 13, Issue 1, pp. 930–936 (Jan 2024), DOI: 10.21275/SR24114035017.</a:t>
            </a:r>
          </a:p>
          <a:p>
            <a:pPr marL="0" indent="0">
              <a:buFont typeface="Arial" panose="020B0604020202020204" pitchFamily="34" charset="0"/>
              <a:buNone/>
            </a:pPr>
            <a:endParaRPr lang="en-US" sz="2400" dirty="0"/>
          </a:p>
        </p:txBody>
      </p:sp>
      <p:sp>
        <p:nvSpPr>
          <p:cNvPr id="922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E70BF35-1420-42AA-97E0-CDD574E5E82B}" type="slidenum">
              <a:rPr lang="en-IN" sz="1200" smtClean="0">
                <a:solidFill>
                  <a:srgbClr val="898989"/>
                </a:solidFill>
              </a:rPr>
              <a:pPr>
                <a:spcBef>
                  <a:spcPct val="0"/>
                </a:spcBef>
                <a:buFontTx/>
                <a:buNone/>
              </a:pPr>
              <a:t>7</a:t>
            </a:fld>
            <a:endParaRPr lang="en-IN" sz="1200">
              <a:solidFill>
                <a:srgbClr val="898989"/>
              </a:solidFill>
            </a:endParaRPr>
          </a:p>
        </p:txBody>
      </p:sp>
    </p:spTree>
    <p:extLst>
      <p:ext uri="{BB962C8B-B14F-4D97-AF65-F5344CB8AC3E}">
        <p14:creationId xmlns:p14="http://schemas.microsoft.com/office/powerpoint/2010/main" val="36456938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r>
              <a:rPr lang="en-US" sz="2800" b="1" dirty="0">
                <a:solidFill>
                  <a:srgbClr val="7030A0"/>
                </a:solidFill>
                <a:latin typeface="Arial" panose="020B0604020202020204" pitchFamily="34" charset="0"/>
                <a:cs typeface="Arial" panose="020B0604020202020204" pitchFamily="34" charset="0"/>
              </a:rPr>
              <a:t>Current technology of the project</a:t>
            </a:r>
            <a:br>
              <a:rPr lang="en-US" sz="2800" b="1" dirty="0">
                <a:solidFill>
                  <a:srgbClr val="7030A0"/>
                </a:solidFill>
                <a:latin typeface="Arial" panose="020B0604020202020204" pitchFamily="34" charset="0"/>
                <a:cs typeface="Arial" panose="020B0604020202020204" pitchFamily="34" charset="0"/>
              </a:rPr>
            </a:br>
            <a:endParaRPr lang="en-US" sz="2800" b="1" dirty="0">
              <a:solidFill>
                <a:srgbClr val="7030A0"/>
              </a:solidFill>
              <a:latin typeface="Arial" panose="020B0604020202020204" pitchFamily="34" charset="0"/>
              <a:cs typeface="Arial" panose="020B0604020202020204" pitchFamily="34" charset="0"/>
            </a:endParaRPr>
          </a:p>
        </p:txBody>
      </p:sp>
      <p:sp>
        <p:nvSpPr>
          <p:cNvPr id="9219" name="Content Placeholder 2"/>
          <p:cNvSpPr>
            <a:spLocks noGrp="1"/>
          </p:cNvSpPr>
          <p:nvPr>
            <p:ph idx="1"/>
          </p:nvPr>
        </p:nvSpPr>
        <p:spPr/>
        <p:txBody>
          <a:bodyPr>
            <a:normAutofit fontScale="70000" lnSpcReduction="20000"/>
          </a:bodyPr>
          <a:lstStyle/>
          <a:p>
            <a:pPr marL="0" indent="0" algn="just">
              <a:buFont typeface="Arial" panose="020B0604020202020204" pitchFamily="34" charset="0"/>
              <a:buNone/>
            </a:pPr>
            <a:r>
              <a:rPr lang="en-GB" sz="2600" dirty="0"/>
              <a:t>	The paper puts forth an intelligent irrigation system for automatic irrigation using IoT that employs capacitive soil moisture sensing and weather forecasting data. The data come into the capability of the Node MCU module and offers a comparison between moisture value and the given threshold. The module then uses the forecasted probability of rainfall in the decision of whether or not to irrigate. Manual override is available to the farmer on the cloud dashboard. The results reveal a spectacular reduction in the use of water with much better improvement in plant health and system response.</a:t>
            </a:r>
            <a:endParaRPr lang="en-US" sz="2400" dirty="0"/>
          </a:p>
          <a:p>
            <a:pPr marL="0" indent="0">
              <a:buFont typeface="Arial" panose="020B0604020202020204" pitchFamily="34" charset="0"/>
              <a:buNone/>
            </a:pPr>
            <a:endParaRPr lang="en-US" sz="2400" dirty="0"/>
          </a:p>
          <a:p>
            <a:pPr marL="0" indent="0">
              <a:buFont typeface="Arial" panose="020B0604020202020204" pitchFamily="34" charset="0"/>
              <a:buNone/>
            </a:pPr>
            <a:endParaRPr lang="en-US" sz="2400" dirty="0"/>
          </a:p>
          <a:p>
            <a:pPr marL="0" indent="0">
              <a:buFont typeface="Arial" panose="020B0604020202020204" pitchFamily="34" charset="0"/>
              <a:buNone/>
            </a:pPr>
            <a:endParaRPr lang="en-US" sz="2400" dirty="0"/>
          </a:p>
          <a:p>
            <a:pPr marL="0" indent="0">
              <a:buFont typeface="Arial" panose="020B0604020202020204" pitchFamily="34" charset="0"/>
              <a:buNone/>
            </a:pPr>
            <a:endParaRPr lang="en-US" sz="2400" dirty="0"/>
          </a:p>
          <a:p>
            <a:pPr marL="0" indent="0">
              <a:buFont typeface="Arial" panose="020B0604020202020204" pitchFamily="34" charset="0"/>
              <a:buNone/>
            </a:pPr>
            <a:endParaRPr lang="en-US" sz="2400" dirty="0"/>
          </a:p>
          <a:p>
            <a:pPr marL="0" indent="0">
              <a:buFont typeface="Arial" panose="020B0604020202020204" pitchFamily="34" charset="0"/>
              <a:buNone/>
            </a:pPr>
            <a:endParaRPr lang="en-US" sz="2400" dirty="0"/>
          </a:p>
          <a:p>
            <a:pPr marL="0" indent="0">
              <a:buFont typeface="Arial" panose="020B0604020202020204" pitchFamily="34" charset="0"/>
              <a:buNone/>
            </a:pPr>
            <a:endParaRPr lang="en-US" sz="2400" dirty="0"/>
          </a:p>
          <a:p>
            <a:pPr marL="0" indent="0">
              <a:buNone/>
            </a:pPr>
            <a:r>
              <a:rPr lang="en-US" sz="2400" dirty="0">
                <a:solidFill>
                  <a:srgbClr val="FF0000"/>
                </a:solidFill>
              </a:rPr>
              <a:t>Source:</a:t>
            </a:r>
            <a:r>
              <a:rPr lang="en-GB" sz="1400" dirty="0"/>
              <a:t> </a:t>
            </a:r>
            <a:r>
              <a:rPr lang="en-GB" sz="2600" dirty="0"/>
              <a:t>“IoT-Based Smart Irrigation Using Weather Forecast and Soil Moisture Sensor”</a:t>
            </a:r>
            <a:r>
              <a:rPr lang="en-US" sz="2600" dirty="0"/>
              <a:t> </a:t>
            </a:r>
            <a:r>
              <a:rPr lang="en-US" sz="2400" dirty="0"/>
              <a:t>author:-</a:t>
            </a:r>
            <a:r>
              <a:rPr lang="en-IN" sz="2600" dirty="0"/>
              <a:t>Shivani, K. N. Swathi, A. P. Kumari, published in </a:t>
            </a:r>
            <a:r>
              <a:rPr lang="en-IN" sz="2600" i="1" dirty="0"/>
              <a:t>IJRPR</a:t>
            </a:r>
            <a:r>
              <a:rPr lang="en-IN" sz="2600" dirty="0"/>
              <a:t> Vol. 5, Issue 3, pp. 881–885 (2024); not Scopus-indexed.</a:t>
            </a:r>
          </a:p>
          <a:p>
            <a:pPr marL="0" indent="0">
              <a:buFont typeface="Arial" panose="020B0604020202020204" pitchFamily="34" charset="0"/>
              <a:buNone/>
            </a:pPr>
            <a:endParaRPr lang="en-US" sz="2400" dirty="0"/>
          </a:p>
        </p:txBody>
      </p:sp>
      <p:sp>
        <p:nvSpPr>
          <p:cNvPr id="922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E70BF35-1420-42AA-97E0-CDD574E5E82B}" type="slidenum">
              <a:rPr lang="en-IN" sz="1200" smtClean="0">
                <a:solidFill>
                  <a:srgbClr val="898989"/>
                </a:solidFill>
              </a:rPr>
              <a:pPr>
                <a:spcBef>
                  <a:spcPct val="0"/>
                </a:spcBef>
                <a:buFontTx/>
                <a:buNone/>
              </a:pPr>
              <a:t>8</a:t>
            </a:fld>
            <a:endParaRPr lang="en-IN" sz="1200">
              <a:solidFill>
                <a:srgbClr val="898989"/>
              </a:solidFill>
            </a:endParaRPr>
          </a:p>
        </p:txBody>
      </p:sp>
    </p:spTree>
    <p:extLst>
      <p:ext uri="{BB962C8B-B14F-4D97-AF65-F5344CB8AC3E}">
        <p14:creationId xmlns:p14="http://schemas.microsoft.com/office/powerpoint/2010/main" val="22168194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642938" y="214313"/>
            <a:ext cx="7515225" cy="1214437"/>
          </a:xfrm>
        </p:spPr>
        <p:txBody>
          <a:bodyPr/>
          <a:lstStyle/>
          <a:p>
            <a:pPr eaLnBrk="1" hangingPunct="1"/>
            <a:r>
              <a:rPr lang="en-US" sz="2800" b="1" dirty="0">
                <a:solidFill>
                  <a:srgbClr val="7030A0"/>
                </a:solidFill>
                <a:latin typeface="Arial" panose="020B0604020202020204" pitchFamily="34" charset="0"/>
                <a:cs typeface="Arial" panose="020B0604020202020204" pitchFamily="34" charset="0"/>
              </a:rPr>
              <a:t>Problem identification, scope and objectives</a:t>
            </a:r>
            <a:endParaRPr lang="en-IN" sz="2800" b="1" dirty="0">
              <a:solidFill>
                <a:srgbClr val="7030A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395288" y="1500188"/>
            <a:ext cx="8280400" cy="4856162"/>
          </a:xfrm>
        </p:spPr>
        <p:txBody>
          <a:bodyPr rtlCol="0">
            <a:normAutofit fontScale="77500" lnSpcReduction="20000"/>
          </a:bodyPr>
          <a:lstStyle/>
          <a:p>
            <a:pPr marL="0" indent="0" algn="just">
              <a:buNone/>
            </a:pPr>
            <a:r>
              <a:rPr lang="en-GB" sz="2300" b="1" dirty="0"/>
              <a:t>Problem Identification :-</a:t>
            </a:r>
          </a:p>
          <a:p>
            <a:pPr algn="just">
              <a:buFont typeface="Arial" panose="020B0604020202020204" pitchFamily="34" charset="0"/>
              <a:buChar char="•"/>
            </a:pPr>
            <a:r>
              <a:rPr lang="en-GB" sz="2300" dirty="0"/>
              <a:t>Traditional irrigation methods waste significant amounts of water.</a:t>
            </a:r>
          </a:p>
          <a:p>
            <a:pPr algn="just">
              <a:buFont typeface="Arial" panose="020B0604020202020204" pitchFamily="34" charset="0"/>
              <a:buChar char="•"/>
            </a:pPr>
            <a:r>
              <a:rPr lang="en-GB" sz="2300" dirty="0"/>
              <a:t>Farmers often rely on intuition rather than real-time data for watering schedules.</a:t>
            </a:r>
          </a:p>
          <a:p>
            <a:pPr algn="just">
              <a:buFont typeface="Arial" panose="020B0604020202020204" pitchFamily="34" charset="0"/>
              <a:buChar char="•"/>
            </a:pPr>
            <a:r>
              <a:rPr lang="en-GB" sz="2300" dirty="0"/>
              <a:t>Over-irrigation or under-irrigation leads to poor crop yield and soil degradation.</a:t>
            </a:r>
          </a:p>
          <a:p>
            <a:pPr algn="just">
              <a:buFont typeface="Arial" panose="020B0604020202020204" pitchFamily="34" charset="0"/>
              <a:buChar char="•"/>
            </a:pPr>
            <a:r>
              <a:rPr lang="en-GB" sz="2300" dirty="0"/>
              <a:t>Weather uncertainty and lack of soil monitoring increase inefficiency in water use.</a:t>
            </a:r>
          </a:p>
          <a:p>
            <a:pPr marL="0" indent="0" algn="just">
              <a:buNone/>
            </a:pPr>
            <a:r>
              <a:rPr lang="en-GB" sz="2300" b="1" dirty="0"/>
              <a:t>Scope of the Project :-</a:t>
            </a:r>
          </a:p>
          <a:p>
            <a:pPr algn="just">
              <a:buFont typeface="Arial" panose="020B0604020202020204" pitchFamily="34" charset="0"/>
              <a:buChar char="•"/>
            </a:pPr>
            <a:r>
              <a:rPr lang="en-GB" sz="2300" dirty="0"/>
              <a:t>Develop a data-driven model to predict optimal irrigation timings.</a:t>
            </a:r>
          </a:p>
          <a:p>
            <a:pPr algn="just">
              <a:buFont typeface="Arial" panose="020B0604020202020204" pitchFamily="34" charset="0"/>
              <a:buChar char="•"/>
            </a:pPr>
            <a:r>
              <a:rPr lang="en-GB" sz="2300" dirty="0"/>
              <a:t>Integrate weather forecast and soil moisture data for intelligent scheduling.</a:t>
            </a:r>
          </a:p>
          <a:p>
            <a:pPr algn="just">
              <a:buFont typeface="Arial" panose="020B0604020202020204" pitchFamily="34" charset="0"/>
              <a:buChar char="•"/>
            </a:pPr>
            <a:r>
              <a:rPr lang="en-GB" sz="2300" dirty="0"/>
              <a:t>Optionally use sensors and IoT for real-time soil data collection and automation.</a:t>
            </a:r>
          </a:p>
          <a:p>
            <a:pPr algn="just">
              <a:buFont typeface="Arial" panose="020B0604020202020204" pitchFamily="34" charset="0"/>
              <a:buChar char="•"/>
            </a:pPr>
            <a:r>
              <a:rPr lang="en-GB" sz="2300" dirty="0"/>
              <a:t>Can be adapted to various crops, climates, and geographic regions.</a:t>
            </a:r>
          </a:p>
          <a:p>
            <a:pPr marL="0" indent="0" algn="just">
              <a:buNone/>
            </a:pPr>
            <a:r>
              <a:rPr lang="en-GB" sz="2300" b="1" dirty="0"/>
              <a:t>Objectives :-</a:t>
            </a:r>
          </a:p>
          <a:p>
            <a:pPr algn="just">
              <a:buFont typeface="Arial" panose="020B0604020202020204" pitchFamily="34" charset="0"/>
              <a:buChar char="•"/>
            </a:pPr>
            <a:r>
              <a:rPr lang="en-GB" sz="2300" dirty="0"/>
              <a:t>Build a machine learning model to predict when and how much to irrigate.</a:t>
            </a:r>
          </a:p>
          <a:p>
            <a:pPr algn="just">
              <a:buFont typeface="Arial" panose="020B0604020202020204" pitchFamily="34" charset="0"/>
              <a:buChar char="•"/>
            </a:pPr>
            <a:r>
              <a:rPr lang="en-GB" sz="2300" dirty="0"/>
              <a:t>Use weather and soil moisture datasets to train the model.</a:t>
            </a:r>
          </a:p>
          <a:p>
            <a:pPr algn="just">
              <a:buFont typeface="Arial" panose="020B0604020202020204" pitchFamily="34" charset="0"/>
              <a:buChar char="•"/>
            </a:pPr>
            <a:r>
              <a:rPr lang="en-GB" sz="2300" dirty="0"/>
              <a:t>Provide real-time irrigation recommendations or automate irrigation.</a:t>
            </a:r>
          </a:p>
          <a:p>
            <a:pPr algn="just">
              <a:buFont typeface="Arial" panose="020B0604020202020204" pitchFamily="34" charset="0"/>
              <a:buChar char="•"/>
            </a:pPr>
            <a:r>
              <a:rPr lang="en-GB" sz="2300" dirty="0"/>
              <a:t>Minimize water usage while maximizing crop health and yield.</a:t>
            </a:r>
          </a:p>
          <a:p>
            <a:pPr algn="just">
              <a:buFont typeface="Arial" panose="020B0604020202020204" pitchFamily="34" charset="0"/>
              <a:buChar char="•"/>
            </a:pPr>
            <a:r>
              <a:rPr lang="en-GB" sz="2300" dirty="0"/>
              <a:t>Support future expansion with hardware integration and mobile/web interfaces.</a:t>
            </a:r>
          </a:p>
          <a:p>
            <a:pPr algn="just">
              <a:buFont typeface="Arial" panose="020B0604020202020204" pitchFamily="34" charset="0"/>
              <a:buChar char="•"/>
            </a:pPr>
            <a:endParaRPr lang="en-GB" sz="2100" dirty="0"/>
          </a:p>
          <a:p>
            <a:pPr marL="0" indent="0" algn="just" eaLnBrk="1" fontAlgn="auto" hangingPunct="1">
              <a:spcAft>
                <a:spcPts val="0"/>
              </a:spcAft>
              <a:buFont typeface="Arial" panose="020B0604020202020204" pitchFamily="34" charset="0"/>
              <a:buNone/>
              <a:defRPr/>
            </a:pPr>
            <a:endParaRPr lang="en-IN" sz="5300" dirty="0">
              <a:latin typeface="Arial" pitchFamily="34" charset="0"/>
              <a:cs typeface="Arial" pitchFamily="34" charset="0"/>
            </a:endParaRPr>
          </a:p>
          <a:p>
            <a:pPr marL="0" indent="0" algn="just" eaLnBrk="1" fontAlgn="auto" hangingPunct="1">
              <a:spcAft>
                <a:spcPts val="0"/>
              </a:spcAft>
              <a:buFont typeface="Arial" panose="020B0604020202020204" pitchFamily="34" charset="0"/>
              <a:buNone/>
              <a:defRPr/>
            </a:pPr>
            <a:endParaRPr lang="en-IN" sz="5300" dirty="0">
              <a:latin typeface="Arial" pitchFamily="34" charset="0"/>
              <a:cs typeface="Arial" pitchFamily="34" charset="0"/>
            </a:endParaRPr>
          </a:p>
          <a:p>
            <a:pPr marL="0" indent="0" algn="just" eaLnBrk="1" fontAlgn="auto" hangingPunct="1">
              <a:spcAft>
                <a:spcPts val="0"/>
              </a:spcAft>
              <a:buFont typeface="Arial" panose="020B0604020202020204" pitchFamily="34" charset="0"/>
              <a:buNone/>
              <a:defRPr/>
            </a:pPr>
            <a:endParaRPr lang="en-IN" sz="5300" dirty="0">
              <a:latin typeface="Arial" pitchFamily="34" charset="0"/>
              <a:cs typeface="Arial" pitchFamily="34" charset="0"/>
            </a:endParaRPr>
          </a:p>
          <a:p>
            <a:pPr marL="0" indent="0" algn="just" eaLnBrk="1" fontAlgn="auto" hangingPunct="1">
              <a:spcAft>
                <a:spcPts val="0"/>
              </a:spcAft>
              <a:buFont typeface="Arial" panose="020B0604020202020204" pitchFamily="34" charset="0"/>
              <a:buNone/>
              <a:defRPr/>
            </a:pPr>
            <a:endParaRPr lang="en-IN" sz="5300" dirty="0">
              <a:latin typeface="Arial" pitchFamily="34" charset="0"/>
              <a:cs typeface="Arial" pitchFamily="34" charset="0"/>
            </a:endParaRPr>
          </a:p>
          <a:p>
            <a:pPr eaLnBrk="1" fontAlgn="auto" hangingPunct="1">
              <a:spcAft>
                <a:spcPts val="0"/>
              </a:spcAft>
              <a:defRPr/>
            </a:pPr>
            <a:endParaRPr lang="en-IN" dirty="0"/>
          </a:p>
        </p:txBody>
      </p:sp>
      <p:sp>
        <p:nvSpPr>
          <p:cNvPr id="1434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E51C282-E751-46B4-A11D-51DF6B800694}" type="slidenum">
              <a:rPr lang="en-IN" sz="1200" smtClean="0">
                <a:solidFill>
                  <a:srgbClr val="898989"/>
                </a:solidFill>
              </a:rPr>
              <a:pPr>
                <a:spcBef>
                  <a:spcPct val="0"/>
                </a:spcBef>
                <a:buFontTx/>
                <a:buNone/>
              </a:pPr>
              <a:t>9</a:t>
            </a:fld>
            <a:endParaRPr lang="en-IN" sz="1200">
              <a:solidFill>
                <a:srgbClr val="898989"/>
              </a:solidFill>
            </a:endParaRPr>
          </a:p>
        </p:txBody>
      </p:sp>
    </p:spTree>
    <p:extLst>
      <p:ext uri="{BB962C8B-B14F-4D97-AF65-F5344CB8AC3E}">
        <p14:creationId xmlns:p14="http://schemas.microsoft.com/office/powerpoint/2010/main" val="16093066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642938" y="214313"/>
            <a:ext cx="7515225" cy="1214437"/>
          </a:xfrm>
        </p:spPr>
        <p:txBody>
          <a:bodyPr/>
          <a:lstStyle/>
          <a:p>
            <a:pPr eaLnBrk="1" hangingPunct="1"/>
            <a:r>
              <a:rPr lang="en-US" sz="2800" b="1" dirty="0">
                <a:solidFill>
                  <a:srgbClr val="7030A0"/>
                </a:solidFill>
                <a:latin typeface="Arial" panose="020B0604020202020204" pitchFamily="34" charset="0"/>
                <a:cs typeface="Arial" panose="020B0604020202020204" pitchFamily="34" charset="0"/>
              </a:rPr>
              <a:t>Methodology to be adopted</a:t>
            </a:r>
            <a:endParaRPr lang="en-IN" sz="2800" b="1" dirty="0">
              <a:solidFill>
                <a:srgbClr val="7030A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395288" y="1500188"/>
            <a:ext cx="8280400" cy="3008312"/>
          </a:xfrm>
        </p:spPr>
        <p:txBody>
          <a:bodyPr rtlCol="0">
            <a:normAutofit/>
          </a:bodyPr>
          <a:lstStyle/>
          <a:p>
            <a:pPr marL="0" indent="0" algn="just" eaLnBrk="1" fontAlgn="auto" hangingPunct="1">
              <a:spcAft>
                <a:spcPts val="0"/>
              </a:spcAft>
              <a:buFont typeface="Arial" panose="020B0604020202020204" pitchFamily="34" charset="0"/>
              <a:buNone/>
              <a:defRPr/>
            </a:pPr>
            <a:endParaRPr lang="en-IN" sz="5300" dirty="0">
              <a:latin typeface="Arial" pitchFamily="34" charset="0"/>
              <a:cs typeface="Arial" pitchFamily="34" charset="0"/>
            </a:endParaRPr>
          </a:p>
          <a:p>
            <a:pPr eaLnBrk="1" fontAlgn="auto" hangingPunct="1">
              <a:spcAft>
                <a:spcPts val="0"/>
              </a:spcAft>
              <a:defRPr/>
            </a:pPr>
            <a:endParaRPr lang="en-IN" dirty="0"/>
          </a:p>
        </p:txBody>
      </p:sp>
      <p:sp>
        <p:nvSpPr>
          <p:cNvPr id="1434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E51C282-E751-46B4-A11D-51DF6B800694}" type="slidenum">
              <a:rPr lang="en-IN" sz="1200" smtClean="0">
                <a:solidFill>
                  <a:srgbClr val="898989"/>
                </a:solidFill>
              </a:rPr>
              <a:pPr>
                <a:spcBef>
                  <a:spcPct val="0"/>
                </a:spcBef>
                <a:buFontTx/>
                <a:buNone/>
              </a:pPr>
              <a:t>10</a:t>
            </a:fld>
            <a:endParaRPr lang="en-IN" sz="1200">
              <a:solidFill>
                <a:srgbClr val="898989"/>
              </a:solidFill>
            </a:endParaRPr>
          </a:p>
        </p:txBody>
      </p:sp>
      <p:sp>
        <p:nvSpPr>
          <p:cNvPr id="6" name="TextBox 5">
            <a:extLst>
              <a:ext uri="{FF2B5EF4-FFF2-40B4-BE49-F238E27FC236}">
                <a16:creationId xmlns:a16="http://schemas.microsoft.com/office/drawing/2014/main" id="{B756F80F-A5FB-3EB6-0355-2B276CF406C1}"/>
              </a:ext>
            </a:extLst>
          </p:cNvPr>
          <p:cNvSpPr txBox="1"/>
          <p:nvPr/>
        </p:nvSpPr>
        <p:spPr>
          <a:xfrm>
            <a:off x="215132" y="1500188"/>
            <a:ext cx="8568952" cy="4856162"/>
          </a:xfrm>
          <a:prstGeom prst="rect">
            <a:avLst/>
          </a:prstGeom>
          <a:noFill/>
        </p:spPr>
        <p:txBody>
          <a:bodyPr wrap="square" rtlCol="0">
            <a:spAutoFit/>
          </a:bodyPr>
          <a:lstStyle/>
          <a:p>
            <a:endParaRPr lang="en-IN" dirty="0"/>
          </a:p>
        </p:txBody>
      </p:sp>
      <p:graphicFrame>
        <p:nvGraphicFramePr>
          <p:cNvPr id="7" name="Table 6">
            <a:extLst>
              <a:ext uri="{FF2B5EF4-FFF2-40B4-BE49-F238E27FC236}">
                <a16:creationId xmlns:a16="http://schemas.microsoft.com/office/drawing/2014/main" id="{CAE9E4AC-B597-1E7A-AEDA-793218C55B1E}"/>
              </a:ext>
            </a:extLst>
          </p:cNvPr>
          <p:cNvGraphicFramePr>
            <a:graphicFrameLocks noGrp="1"/>
          </p:cNvGraphicFramePr>
          <p:nvPr>
            <p:extLst>
              <p:ext uri="{D42A27DB-BD31-4B8C-83A1-F6EECF244321}">
                <p14:modId xmlns:p14="http://schemas.microsoft.com/office/powerpoint/2010/main" val="2633108424"/>
              </p:ext>
            </p:extLst>
          </p:nvPr>
        </p:nvGraphicFramePr>
        <p:xfrm>
          <a:off x="3563888" y="1506220"/>
          <a:ext cx="1037803" cy="365760"/>
        </p:xfrm>
        <a:graphic>
          <a:graphicData uri="http://schemas.openxmlformats.org/drawingml/2006/table">
            <a:tbl>
              <a:tblPr/>
              <a:tblGrid>
                <a:gridCol w="1037803">
                  <a:extLst>
                    <a:ext uri="{9D8B030D-6E8A-4147-A177-3AD203B41FA5}">
                      <a16:colId xmlns:a16="http://schemas.microsoft.com/office/drawing/2014/main" val="2033784334"/>
                    </a:ext>
                  </a:extLst>
                </a:gridCol>
              </a:tblGrid>
              <a:tr h="349821">
                <a:tc>
                  <a:txBody>
                    <a:bodyPr/>
                    <a:lstStyle/>
                    <a:p>
                      <a:r>
                        <a:rPr lang="en-IN" dirty="0"/>
                        <a:t>Sensors</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2143588037"/>
                  </a:ext>
                </a:extLst>
              </a:tr>
            </a:tbl>
          </a:graphicData>
        </a:graphic>
      </p:graphicFrame>
      <p:graphicFrame>
        <p:nvGraphicFramePr>
          <p:cNvPr id="8" name="Table 7">
            <a:extLst>
              <a:ext uri="{FF2B5EF4-FFF2-40B4-BE49-F238E27FC236}">
                <a16:creationId xmlns:a16="http://schemas.microsoft.com/office/drawing/2014/main" id="{AABFFB37-CD94-1509-B71A-DF4FF9CC3025}"/>
              </a:ext>
            </a:extLst>
          </p:cNvPr>
          <p:cNvGraphicFramePr>
            <a:graphicFrameLocks noGrp="1"/>
          </p:cNvGraphicFramePr>
          <p:nvPr>
            <p:extLst>
              <p:ext uri="{D42A27DB-BD31-4B8C-83A1-F6EECF244321}">
                <p14:modId xmlns:p14="http://schemas.microsoft.com/office/powerpoint/2010/main" val="1186584045"/>
              </p:ext>
            </p:extLst>
          </p:nvPr>
        </p:nvGraphicFramePr>
        <p:xfrm>
          <a:off x="2879811" y="2054225"/>
          <a:ext cx="2664297" cy="365760"/>
        </p:xfrm>
        <a:graphic>
          <a:graphicData uri="http://schemas.openxmlformats.org/drawingml/2006/table">
            <a:tbl>
              <a:tblPr/>
              <a:tblGrid>
                <a:gridCol w="2664297">
                  <a:extLst>
                    <a:ext uri="{9D8B030D-6E8A-4147-A177-3AD203B41FA5}">
                      <a16:colId xmlns:a16="http://schemas.microsoft.com/office/drawing/2014/main" val="1058626239"/>
                    </a:ext>
                  </a:extLst>
                </a:gridCol>
              </a:tblGrid>
              <a:tr h="362310">
                <a:tc>
                  <a:txBody>
                    <a:bodyPr/>
                    <a:lstStyle/>
                    <a:p>
                      <a:r>
                        <a:rPr lang="en-GB" dirty="0"/>
                        <a:t>Real time data collection </a:t>
                      </a:r>
                      <a:endParaRPr lang="en-IN"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2999424460"/>
                  </a:ext>
                </a:extLst>
              </a:tr>
            </a:tbl>
          </a:graphicData>
        </a:graphic>
      </p:graphicFrame>
      <p:graphicFrame>
        <p:nvGraphicFramePr>
          <p:cNvPr id="9" name="Table 8">
            <a:extLst>
              <a:ext uri="{FF2B5EF4-FFF2-40B4-BE49-F238E27FC236}">
                <a16:creationId xmlns:a16="http://schemas.microsoft.com/office/drawing/2014/main" id="{0645C544-81F2-D5C0-8DA3-2F0638A804AA}"/>
              </a:ext>
            </a:extLst>
          </p:cNvPr>
          <p:cNvGraphicFramePr>
            <a:graphicFrameLocks noGrp="1"/>
          </p:cNvGraphicFramePr>
          <p:nvPr>
            <p:extLst>
              <p:ext uri="{D42A27DB-BD31-4B8C-83A1-F6EECF244321}">
                <p14:modId xmlns:p14="http://schemas.microsoft.com/office/powerpoint/2010/main" val="1763741812"/>
              </p:ext>
            </p:extLst>
          </p:nvPr>
        </p:nvGraphicFramePr>
        <p:xfrm>
          <a:off x="749942" y="2638584"/>
          <a:ext cx="2335939" cy="365760"/>
        </p:xfrm>
        <a:graphic>
          <a:graphicData uri="http://schemas.openxmlformats.org/drawingml/2006/table">
            <a:tbl>
              <a:tblPr/>
              <a:tblGrid>
                <a:gridCol w="2335939">
                  <a:extLst>
                    <a:ext uri="{9D8B030D-6E8A-4147-A177-3AD203B41FA5}">
                      <a16:colId xmlns:a16="http://schemas.microsoft.com/office/drawing/2014/main" val="3452227502"/>
                    </a:ext>
                  </a:extLst>
                </a:gridCol>
              </a:tblGrid>
              <a:tr h="362310">
                <a:tc>
                  <a:txBody>
                    <a:bodyPr/>
                    <a:lstStyle/>
                    <a:p>
                      <a:r>
                        <a:rPr lang="en-GB" dirty="0"/>
                        <a:t>Weather forecast API</a:t>
                      </a:r>
                      <a:endParaRPr lang="en-IN"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3895316819"/>
                  </a:ext>
                </a:extLst>
              </a:tr>
            </a:tbl>
          </a:graphicData>
        </a:graphic>
      </p:graphicFrame>
      <p:graphicFrame>
        <p:nvGraphicFramePr>
          <p:cNvPr id="10" name="Table 9">
            <a:extLst>
              <a:ext uri="{FF2B5EF4-FFF2-40B4-BE49-F238E27FC236}">
                <a16:creationId xmlns:a16="http://schemas.microsoft.com/office/drawing/2014/main" id="{DD741575-3F93-6A78-0C19-8133B1222F21}"/>
              </a:ext>
            </a:extLst>
          </p:cNvPr>
          <p:cNvGraphicFramePr>
            <a:graphicFrameLocks noGrp="1"/>
          </p:cNvGraphicFramePr>
          <p:nvPr>
            <p:extLst>
              <p:ext uri="{D42A27DB-BD31-4B8C-83A1-F6EECF244321}">
                <p14:modId xmlns:p14="http://schemas.microsoft.com/office/powerpoint/2010/main" val="3337286718"/>
              </p:ext>
            </p:extLst>
          </p:nvPr>
        </p:nvGraphicFramePr>
        <p:xfrm>
          <a:off x="4957248" y="2638584"/>
          <a:ext cx="3862208" cy="365760"/>
        </p:xfrm>
        <a:graphic>
          <a:graphicData uri="http://schemas.openxmlformats.org/drawingml/2006/table">
            <a:tbl>
              <a:tblPr/>
              <a:tblGrid>
                <a:gridCol w="3862208">
                  <a:extLst>
                    <a:ext uri="{9D8B030D-6E8A-4147-A177-3AD203B41FA5}">
                      <a16:colId xmlns:a16="http://schemas.microsoft.com/office/drawing/2014/main" val="937580188"/>
                    </a:ext>
                  </a:extLst>
                </a:gridCol>
              </a:tblGrid>
              <a:tr h="353683">
                <a:tc>
                  <a:txBody>
                    <a:bodyPr/>
                    <a:lstStyle/>
                    <a:p>
                      <a:r>
                        <a:rPr lang="en-GB" dirty="0"/>
                        <a:t>Historical weather and irrigation data </a:t>
                      </a:r>
                      <a:endParaRPr lang="en-IN"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2687725168"/>
                  </a:ext>
                </a:extLst>
              </a:tr>
            </a:tbl>
          </a:graphicData>
        </a:graphic>
      </p:graphicFrame>
      <p:graphicFrame>
        <p:nvGraphicFramePr>
          <p:cNvPr id="11" name="Table 10">
            <a:extLst>
              <a:ext uri="{FF2B5EF4-FFF2-40B4-BE49-F238E27FC236}">
                <a16:creationId xmlns:a16="http://schemas.microsoft.com/office/drawing/2014/main" id="{80A1994F-1711-CFBE-5033-175B40F2F89A}"/>
              </a:ext>
            </a:extLst>
          </p:cNvPr>
          <p:cNvGraphicFramePr>
            <a:graphicFrameLocks noGrp="1"/>
          </p:cNvGraphicFramePr>
          <p:nvPr>
            <p:extLst>
              <p:ext uri="{D42A27DB-BD31-4B8C-83A1-F6EECF244321}">
                <p14:modId xmlns:p14="http://schemas.microsoft.com/office/powerpoint/2010/main" val="1281698222"/>
              </p:ext>
            </p:extLst>
          </p:nvPr>
        </p:nvGraphicFramePr>
        <p:xfrm>
          <a:off x="3012407" y="3299852"/>
          <a:ext cx="2191109" cy="365760"/>
        </p:xfrm>
        <a:graphic>
          <a:graphicData uri="http://schemas.openxmlformats.org/drawingml/2006/table">
            <a:tbl>
              <a:tblPr/>
              <a:tblGrid>
                <a:gridCol w="2191109">
                  <a:extLst>
                    <a:ext uri="{9D8B030D-6E8A-4147-A177-3AD203B41FA5}">
                      <a16:colId xmlns:a16="http://schemas.microsoft.com/office/drawing/2014/main" val="2045827974"/>
                    </a:ext>
                  </a:extLst>
                </a:gridCol>
              </a:tblGrid>
              <a:tr h="310551">
                <a:tc>
                  <a:txBody>
                    <a:bodyPr/>
                    <a:lstStyle/>
                    <a:p>
                      <a:r>
                        <a:rPr lang="en-GB" dirty="0"/>
                        <a:t>Data preprocessing </a:t>
                      </a:r>
                      <a:endParaRPr lang="en-IN"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171503587"/>
                  </a:ext>
                </a:extLst>
              </a:tr>
            </a:tbl>
          </a:graphicData>
        </a:graphic>
      </p:graphicFrame>
      <p:graphicFrame>
        <p:nvGraphicFramePr>
          <p:cNvPr id="12" name="Table 11">
            <a:extLst>
              <a:ext uri="{FF2B5EF4-FFF2-40B4-BE49-F238E27FC236}">
                <a16:creationId xmlns:a16="http://schemas.microsoft.com/office/drawing/2014/main" id="{7D43D5FA-835E-42A5-37EC-91E1DC7DA82A}"/>
              </a:ext>
            </a:extLst>
          </p:cNvPr>
          <p:cNvGraphicFramePr>
            <a:graphicFrameLocks noGrp="1"/>
          </p:cNvGraphicFramePr>
          <p:nvPr>
            <p:extLst>
              <p:ext uri="{D42A27DB-BD31-4B8C-83A1-F6EECF244321}">
                <p14:modId xmlns:p14="http://schemas.microsoft.com/office/powerpoint/2010/main" val="1743488660"/>
              </p:ext>
            </p:extLst>
          </p:nvPr>
        </p:nvGraphicFramePr>
        <p:xfrm>
          <a:off x="3433784" y="3896623"/>
          <a:ext cx="1348354" cy="365760"/>
        </p:xfrm>
        <a:graphic>
          <a:graphicData uri="http://schemas.openxmlformats.org/drawingml/2006/table">
            <a:tbl>
              <a:tblPr/>
              <a:tblGrid>
                <a:gridCol w="1348354">
                  <a:extLst>
                    <a:ext uri="{9D8B030D-6E8A-4147-A177-3AD203B41FA5}">
                      <a16:colId xmlns:a16="http://schemas.microsoft.com/office/drawing/2014/main" val="2380640248"/>
                    </a:ext>
                  </a:extLst>
                </a:gridCol>
              </a:tblGrid>
              <a:tr h="232914">
                <a:tc>
                  <a:txBody>
                    <a:bodyPr/>
                    <a:lstStyle/>
                    <a:p>
                      <a:r>
                        <a:rPr lang="en-GB" dirty="0"/>
                        <a:t>ML Model </a:t>
                      </a:r>
                      <a:endParaRPr lang="en-IN"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3858362729"/>
                  </a:ext>
                </a:extLst>
              </a:tr>
            </a:tbl>
          </a:graphicData>
        </a:graphic>
      </p:graphicFrame>
      <p:graphicFrame>
        <p:nvGraphicFramePr>
          <p:cNvPr id="13" name="Table 12">
            <a:extLst>
              <a:ext uri="{FF2B5EF4-FFF2-40B4-BE49-F238E27FC236}">
                <a16:creationId xmlns:a16="http://schemas.microsoft.com/office/drawing/2014/main" id="{A794698E-5A99-F326-D5BC-C2CA2BEDF770}"/>
              </a:ext>
            </a:extLst>
          </p:cNvPr>
          <p:cNvGraphicFramePr>
            <a:graphicFrameLocks noGrp="1"/>
          </p:cNvGraphicFramePr>
          <p:nvPr>
            <p:extLst>
              <p:ext uri="{D42A27DB-BD31-4B8C-83A1-F6EECF244321}">
                <p14:modId xmlns:p14="http://schemas.microsoft.com/office/powerpoint/2010/main" val="900297786"/>
              </p:ext>
            </p:extLst>
          </p:nvPr>
        </p:nvGraphicFramePr>
        <p:xfrm>
          <a:off x="2269683" y="4471089"/>
          <a:ext cx="4261734" cy="439948"/>
        </p:xfrm>
        <a:graphic>
          <a:graphicData uri="http://schemas.openxmlformats.org/drawingml/2006/table">
            <a:tbl>
              <a:tblPr/>
              <a:tblGrid>
                <a:gridCol w="4261734">
                  <a:extLst>
                    <a:ext uri="{9D8B030D-6E8A-4147-A177-3AD203B41FA5}">
                      <a16:colId xmlns:a16="http://schemas.microsoft.com/office/drawing/2014/main" val="560562015"/>
                    </a:ext>
                  </a:extLst>
                </a:gridCol>
              </a:tblGrid>
              <a:tr h="439948">
                <a:tc>
                  <a:txBody>
                    <a:bodyPr/>
                    <a:lstStyle/>
                    <a:p>
                      <a:r>
                        <a:rPr lang="en-GB" dirty="0"/>
                        <a:t>Prediction (when &amp; how much to irrigate)</a:t>
                      </a:r>
                      <a:endParaRPr lang="en-IN"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891192016"/>
                  </a:ext>
                </a:extLst>
              </a:tr>
            </a:tbl>
          </a:graphicData>
        </a:graphic>
      </p:graphicFrame>
      <p:graphicFrame>
        <p:nvGraphicFramePr>
          <p:cNvPr id="14" name="Table 13">
            <a:extLst>
              <a:ext uri="{FF2B5EF4-FFF2-40B4-BE49-F238E27FC236}">
                <a16:creationId xmlns:a16="http://schemas.microsoft.com/office/drawing/2014/main" id="{8277991E-F8F2-83CB-0BC0-9D4CD3C9E951}"/>
              </a:ext>
            </a:extLst>
          </p:cNvPr>
          <p:cNvGraphicFramePr>
            <a:graphicFrameLocks noGrp="1"/>
          </p:cNvGraphicFramePr>
          <p:nvPr>
            <p:extLst>
              <p:ext uri="{D42A27DB-BD31-4B8C-83A1-F6EECF244321}">
                <p14:modId xmlns:p14="http://schemas.microsoft.com/office/powerpoint/2010/main" val="1097647589"/>
              </p:ext>
            </p:extLst>
          </p:nvPr>
        </p:nvGraphicFramePr>
        <p:xfrm>
          <a:off x="2781989" y="5102259"/>
          <a:ext cx="2601600" cy="371613"/>
        </p:xfrm>
        <a:graphic>
          <a:graphicData uri="http://schemas.openxmlformats.org/drawingml/2006/table">
            <a:tbl>
              <a:tblPr/>
              <a:tblGrid>
                <a:gridCol w="2601600">
                  <a:extLst>
                    <a:ext uri="{9D8B030D-6E8A-4147-A177-3AD203B41FA5}">
                      <a16:colId xmlns:a16="http://schemas.microsoft.com/office/drawing/2014/main" val="3228162183"/>
                    </a:ext>
                  </a:extLst>
                </a:gridCol>
              </a:tblGrid>
              <a:tr h="371613">
                <a:tc>
                  <a:txBody>
                    <a:bodyPr/>
                    <a:lstStyle/>
                    <a:p>
                      <a:r>
                        <a:rPr lang="en-IN" dirty="0"/>
                        <a:t>Actuator / Pump Control</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2338025240"/>
                  </a:ext>
                </a:extLst>
              </a:tr>
            </a:tbl>
          </a:graphicData>
        </a:graphic>
      </p:graphicFrame>
      <p:graphicFrame>
        <p:nvGraphicFramePr>
          <p:cNvPr id="15" name="Table 14">
            <a:extLst>
              <a:ext uri="{FF2B5EF4-FFF2-40B4-BE49-F238E27FC236}">
                <a16:creationId xmlns:a16="http://schemas.microsoft.com/office/drawing/2014/main" id="{F5098EC2-CF10-39F9-E09F-498ED11F3F4E}"/>
              </a:ext>
            </a:extLst>
          </p:cNvPr>
          <p:cNvGraphicFramePr>
            <a:graphicFrameLocks noGrp="1"/>
          </p:cNvGraphicFramePr>
          <p:nvPr>
            <p:extLst>
              <p:ext uri="{D42A27DB-BD31-4B8C-83A1-F6EECF244321}">
                <p14:modId xmlns:p14="http://schemas.microsoft.com/office/powerpoint/2010/main" val="1806437778"/>
              </p:ext>
            </p:extLst>
          </p:nvPr>
        </p:nvGraphicFramePr>
        <p:xfrm>
          <a:off x="2414712" y="5693387"/>
          <a:ext cx="3594494" cy="365760"/>
        </p:xfrm>
        <a:graphic>
          <a:graphicData uri="http://schemas.openxmlformats.org/drawingml/2006/table">
            <a:tbl>
              <a:tblPr/>
              <a:tblGrid>
                <a:gridCol w="3594494">
                  <a:extLst>
                    <a:ext uri="{9D8B030D-6E8A-4147-A177-3AD203B41FA5}">
                      <a16:colId xmlns:a16="http://schemas.microsoft.com/office/drawing/2014/main" val="2542336291"/>
                    </a:ext>
                  </a:extLst>
                </a:gridCol>
              </a:tblGrid>
              <a:tr h="345057">
                <a:tc>
                  <a:txBody>
                    <a:bodyPr/>
                    <a:lstStyle/>
                    <a:p>
                      <a:r>
                        <a:rPr lang="en-GB" dirty="0"/>
                        <a:t>Web interface for farmer interaction </a:t>
                      </a:r>
                      <a:endParaRPr lang="en-IN"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281748652"/>
                  </a:ext>
                </a:extLst>
              </a:tr>
            </a:tbl>
          </a:graphicData>
        </a:graphic>
      </p:graphicFrame>
      <p:sp>
        <p:nvSpPr>
          <p:cNvPr id="18" name="Arrow: Down 17">
            <a:extLst>
              <a:ext uri="{FF2B5EF4-FFF2-40B4-BE49-F238E27FC236}">
                <a16:creationId xmlns:a16="http://schemas.microsoft.com/office/drawing/2014/main" id="{20E81097-E890-B459-5AC2-93CFC150D40C}"/>
              </a:ext>
            </a:extLst>
          </p:cNvPr>
          <p:cNvSpPr/>
          <p:nvPr/>
        </p:nvSpPr>
        <p:spPr>
          <a:xfrm>
            <a:off x="4067944" y="1871980"/>
            <a:ext cx="45719" cy="17679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Arrow: Down 19">
            <a:extLst>
              <a:ext uri="{FF2B5EF4-FFF2-40B4-BE49-F238E27FC236}">
                <a16:creationId xmlns:a16="http://schemas.microsoft.com/office/drawing/2014/main" id="{33D772B7-A7E5-A41A-2382-2BACE38DEECC}"/>
              </a:ext>
            </a:extLst>
          </p:cNvPr>
          <p:cNvSpPr/>
          <p:nvPr/>
        </p:nvSpPr>
        <p:spPr>
          <a:xfrm>
            <a:off x="4041968" y="3665612"/>
            <a:ext cx="45719" cy="19122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Arrow: Down 20">
            <a:extLst>
              <a:ext uri="{FF2B5EF4-FFF2-40B4-BE49-F238E27FC236}">
                <a16:creationId xmlns:a16="http://schemas.microsoft.com/office/drawing/2014/main" id="{79CA2606-5ABD-4361-9924-3A70871AB19E}"/>
              </a:ext>
            </a:extLst>
          </p:cNvPr>
          <p:cNvSpPr/>
          <p:nvPr/>
        </p:nvSpPr>
        <p:spPr>
          <a:xfrm>
            <a:off x="4067944" y="4262383"/>
            <a:ext cx="45719" cy="18557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Arrow: Down 21">
            <a:extLst>
              <a:ext uri="{FF2B5EF4-FFF2-40B4-BE49-F238E27FC236}">
                <a16:creationId xmlns:a16="http://schemas.microsoft.com/office/drawing/2014/main" id="{6FF9C27E-46FD-3038-0E5D-471E051B7843}"/>
              </a:ext>
            </a:extLst>
          </p:cNvPr>
          <p:cNvSpPr/>
          <p:nvPr/>
        </p:nvSpPr>
        <p:spPr>
          <a:xfrm>
            <a:off x="4113663" y="4911037"/>
            <a:ext cx="45719" cy="20870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Arrow: Down 22">
            <a:extLst>
              <a:ext uri="{FF2B5EF4-FFF2-40B4-BE49-F238E27FC236}">
                <a16:creationId xmlns:a16="http://schemas.microsoft.com/office/drawing/2014/main" id="{FF16200B-48A9-1563-C7E4-2EB39428D7B4}"/>
              </a:ext>
            </a:extLst>
          </p:cNvPr>
          <p:cNvSpPr/>
          <p:nvPr/>
        </p:nvSpPr>
        <p:spPr>
          <a:xfrm>
            <a:off x="4113663" y="5473872"/>
            <a:ext cx="45719" cy="19122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Minus Sign 25">
            <a:extLst>
              <a:ext uri="{FF2B5EF4-FFF2-40B4-BE49-F238E27FC236}">
                <a16:creationId xmlns:a16="http://schemas.microsoft.com/office/drawing/2014/main" id="{ADBBFD87-742A-305D-8F6D-65DDACA5E103}"/>
              </a:ext>
            </a:extLst>
          </p:cNvPr>
          <p:cNvSpPr/>
          <p:nvPr/>
        </p:nvSpPr>
        <p:spPr>
          <a:xfrm>
            <a:off x="2555776" y="2204864"/>
            <a:ext cx="324035" cy="45719"/>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Arrow: Down 26">
            <a:extLst>
              <a:ext uri="{FF2B5EF4-FFF2-40B4-BE49-F238E27FC236}">
                <a16:creationId xmlns:a16="http://schemas.microsoft.com/office/drawing/2014/main" id="{57BD2E25-5575-8E5A-2506-89C1349D8177}"/>
              </a:ext>
            </a:extLst>
          </p:cNvPr>
          <p:cNvSpPr/>
          <p:nvPr/>
        </p:nvSpPr>
        <p:spPr>
          <a:xfrm>
            <a:off x="2590801" y="2250583"/>
            <a:ext cx="45719" cy="36576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Minus Sign 27">
            <a:extLst>
              <a:ext uri="{FF2B5EF4-FFF2-40B4-BE49-F238E27FC236}">
                <a16:creationId xmlns:a16="http://schemas.microsoft.com/office/drawing/2014/main" id="{8E0DC6C9-07DA-C622-E7FA-23344CC88177}"/>
              </a:ext>
            </a:extLst>
          </p:cNvPr>
          <p:cNvSpPr/>
          <p:nvPr/>
        </p:nvSpPr>
        <p:spPr>
          <a:xfrm>
            <a:off x="5470269" y="2250583"/>
            <a:ext cx="720083" cy="45719"/>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Arrow: Down 28">
            <a:extLst>
              <a:ext uri="{FF2B5EF4-FFF2-40B4-BE49-F238E27FC236}">
                <a16:creationId xmlns:a16="http://schemas.microsoft.com/office/drawing/2014/main" id="{34134F4B-302A-F53F-0C45-C4D8A80DE633}"/>
              </a:ext>
            </a:extLst>
          </p:cNvPr>
          <p:cNvSpPr/>
          <p:nvPr/>
        </p:nvSpPr>
        <p:spPr>
          <a:xfrm>
            <a:off x="6058121" y="2271422"/>
            <a:ext cx="45719" cy="35181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Minus Sign 29">
            <a:extLst>
              <a:ext uri="{FF2B5EF4-FFF2-40B4-BE49-F238E27FC236}">
                <a16:creationId xmlns:a16="http://schemas.microsoft.com/office/drawing/2014/main" id="{9FC56773-A8B3-65AA-978A-6E5A89828493}"/>
              </a:ext>
            </a:extLst>
          </p:cNvPr>
          <p:cNvSpPr/>
          <p:nvPr/>
        </p:nvSpPr>
        <p:spPr>
          <a:xfrm>
            <a:off x="3038757" y="2807986"/>
            <a:ext cx="478007" cy="45719"/>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Minus Sign 30">
            <a:extLst>
              <a:ext uri="{FF2B5EF4-FFF2-40B4-BE49-F238E27FC236}">
                <a16:creationId xmlns:a16="http://schemas.microsoft.com/office/drawing/2014/main" id="{BE9A041F-6149-727B-CC9F-30BEDC272C5B}"/>
              </a:ext>
            </a:extLst>
          </p:cNvPr>
          <p:cNvSpPr/>
          <p:nvPr/>
        </p:nvSpPr>
        <p:spPr>
          <a:xfrm>
            <a:off x="4535083" y="2780928"/>
            <a:ext cx="478007" cy="45719"/>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Arrow: Down 31">
            <a:extLst>
              <a:ext uri="{FF2B5EF4-FFF2-40B4-BE49-F238E27FC236}">
                <a16:creationId xmlns:a16="http://schemas.microsoft.com/office/drawing/2014/main" id="{A2EC0120-8EC5-DEED-F697-4060BDB38F70}"/>
              </a:ext>
            </a:extLst>
          </p:cNvPr>
          <p:cNvSpPr/>
          <p:nvPr/>
        </p:nvSpPr>
        <p:spPr>
          <a:xfrm>
            <a:off x="4578831" y="2809688"/>
            <a:ext cx="45719" cy="45133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Arrow: Down 32">
            <a:extLst>
              <a:ext uri="{FF2B5EF4-FFF2-40B4-BE49-F238E27FC236}">
                <a16:creationId xmlns:a16="http://schemas.microsoft.com/office/drawing/2014/main" id="{A0E7AEBC-3781-722C-0C97-2C6DE03E48DA}"/>
              </a:ext>
            </a:extLst>
          </p:cNvPr>
          <p:cNvSpPr/>
          <p:nvPr/>
        </p:nvSpPr>
        <p:spPr>
          <a:xfrm>
            <a:off x="3433784" y="2830845"/>
            <a:ext cx="74262" cy="45133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3086574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642938" y="214313"/>
            <a:ext cx="7515225" cy="1214437"/>
          </a:xfrm>
        </p:spPr>
        <p:txBody>
          <a:bodyPr/>
          <a:lstStyle/>
          <a:p>
            <a:r>
              <a:rPr lang="en-US" sz="2800" b="1" dirty="0">
                <a:solidFill>
                  <a:srgbClr val="7030A0"/>
                </a:solidFill>
                <a:latin typeface="Arial" panose="020B0604020202020204" pitchFamily="34" charset="0"/>
                <a:cs typeface="Arial" panose="020B0604020202020204" pitchFamily="34" charset="0"/>
              </a:rPr>
              <a:t>Timeline of the Project and Budget </a:t>
            </a:r>
            <a:endParaRPr lang="en-IN" sz="2800" b="1" dirty="0">
              <a:solidFill>
                <a:srgbClr val="7030A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395288" y="1500188"/>
            <a:ext cx="8280400" cy="3008312"/>
          </a:xfrm>
        </p:spPr>
        <p:txBody>
          <a:bodyPr rtlCol="0">
            <a:normAutofit/>
          </a:bodyPr>
          <a:lstStyle/>
          <a:p>
            <a:pPr marL="0" indent="0" algn="just" eaLnBrk="1" fontAlgn="auto" hangingPunct="1">
              <a:spcAft>
                <a:spcPts val="0"/>
              </a:spcAft>
              <a:buFont typeface="Arial" panose="020B0604020202020204" pitchFamily="34" charset="0"/>
              <a:buNone/>
              <a:defRPr/>
            </a:pPr>
            <a:endParaRPr lang="en-IN" sz="5300" dirty="0">
              <a:latin typeface="Arial" pitchFamily="34" charset="0"/>
              <a:cs typeface="Arial" pitchFamily="34" charset="0"/>
            </a:endParaRPr>
          </a:p>
          <a:p>
            <a:pPr eaLnBrk="1" fontAlgn="auto" hangingPunct="1">
              <a:spcAft>
                <a:spcPts val="0"/>
              </a:spcAft>
              <a:defRPr/>
            </a:pPr>
            <a:endParaRPr lang="en-IN" dirty="0"/>
          </a:p>
        </p:txBody>
      </p:sp>
      <p:sp>
        <p:nvSpPr>
          <p:cNvPr id="1434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E51C282-E751-46B4-A11D-51DF6B800694}" type="slidenum">
              <a:rPr lang="en-IN" sz="1200" smtClean="0">
                <a:solidFill>
                  <a:srgbClr val="898989"/>
                </a:solidFill>
              </a:rPr>
              <a:pPr>
                <a:spcBef>
                  <a:spcPct val="0"/>
                </a:spcBef>
                <a:buFontTx/>
                <a:buNone/>
              </a:pPr>
              <a:t>11</a:t>
            </a:fld>
            <a:endParaRPr lang="en-IN" sz="1200">
              <a:solidFill>
                <a:srgbClr val="898989"/>
              </a:solidFill>
            </a:endParaRPr>
          </a:p>
        </p:txBody>
      </p:sp>
      <p:pic>
        <p:nvPicPr>
          <p:cNvPr id="10" name="Picture 9" descr="A graph with blue rectangles&#10;&#10;AI-generated content may be incorrect.">
            <a:extLst>
              <a:ext uri="{FF2B5EF4-FFF2-40B4-BE49-F238E27FC236}">
                <a16:creationId xmlns:a16="http://schemas.microsoft.com/office/drawing/2014/main" id="{E19F1F8A-567F-0556-A605-FED7E3B37B0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87624" y="1700808"/>
            <a:ext cx="6192688" cy="4128459"/>
          </a:xfrm>
          <a:prstGeom prst="rect">
            <a:avLst/>
          </a:prstGeom>
        </p:spPr>
      </p:pic>
    </p:spTree>
    <p:extLst>
      <p:ext uri="{BB962C8B-B14F-4D97-AF65-F5344CB8AC3E}">
        <p14:creationId xmlns:p14="http://schemas.microsoft.com/office/powerpoint/2010/main" val="35104283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642938" y="214313"/>
            <a:ext cx="7515225" cy="1214437"/>
          </a:xfrm>
        </p:spPr>
        <p:txBody>
          <a:bodyPr/>
          <a:lstStyle/>
          <a:p>
            <a:r>
              <a:rPr lang="en-US" sz="2800" b="1" dirty="0">
                <a:solidFill>
                  <a:srgbClr val="7030A0"/>
                </a:solidFill>
                <a:latin typeface="Arial" panose="020B0604020202020204" pitchFamily="34" charset="0"/>
                <a:cs typeface="Arial" panose="020B0604020202020204" pitchFamily="34" charset="0"/>
              </a:rPr>
              <a:t>Timeline of the Project and Budget </a:t>
            </a:r>
            <a:endParaRPr lang="en-IN" sz="2800" b="1" dirty="0">
              <a:solidFill>
                <a:srgbClr val="7030A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395288" y="1500188"/>
            <a:ext cx="8280400" cy="3008312"/>
          </a:xfrm>
        </p:spPr>
        <p:txBody>
          <a:bodyPr rtlCol="0">
            <a:normAutofit/>
          </a:bodyPr>
          <a:lstStyle/>
          <a:p>
            <a:pPr marL="0" indent="0" algn="just" eaLnBrk="1" fontAlgn="auto" hangingPunct="1">
              <a:spcAft>
                <a:spcPts val="0"/>
              </a:spcAft>
              <a:buFont typeface="Arial" panose="020B0604020202020204" pitchFamily="34" charset="0"/>
              <a:buNone/>
              <a:defRPr/>
            </a:pPr>
            <a:endParaRPr lang="en-IN" sz="5300" dirty="0">
              <a:latin typeface="Arial" pitchFamily="34" charset="0"/>
              <a:cs typeface="Arial" pitchFamily="34" charset="0"/>
            </a:endParaRPr>
          </a:p>
          <a:p>
            <a:pPr eaLnBrk="1" fontAlgn="auto" hangingPunct="1">
              <a:spcAft>
                <a:spcPts val="0"/>
              </a:spcAft>
              <a:defRPr/>
            </a:pPr>
            <a:endParaRPr lang="en-IN" dirty="0"/>
          </a:p>
        </p:txBody>
      </p:sp>
      <p:sp>
        <p:nvSpPr>
          <p:cNvPr id="1434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E51C282-E751-46B4-A11D-51DF6B800694}" type="slidenum">
              <a:rPr lang="en-IN" sz="1200" smtClean="0">
                <a:solidFill>
                  <a:srgbClr val="898989"/>
                </a:solidFill>
              </a:rPr>
              <a:pPr>
                <a:spcBef>
                  <a:spcPct val="0"/>
                </a:spcBef>
                <a:buFontTx/>
                <a:buNone/>
              </a:pPr>
              <a:t>12</a:t>
            </a:fld>
            <a:endParaRPr lang="en-IN" sz="1200">
              <a:solidFill>
                <a:srgbClr val="898989"/>
              </a:solidFill>
            </a:endParaRPr>
          </a:p>
        </p:txBody>
      </p:sp>
      <p:graphicFrame>
        <p:nvGraphicFramePr>
          <p:cNvPr id="2" name="Table 1">
            <a:extLst>
              <a:ext uri="{FF2B5EF4-FFF2-40B4-BE49-F238E27FC236}">
                <a16:creationId xmlns:a16="http://schemas.microsoft.com/office/drawing/2014/main" id="{18FE262C-E923-8C82-B416-53A1D7D12926}"/>
              </a:ext>
            </a:extLst>
          </p:cNvPr>
          <p:cNvGraphicFramePr>
            <a:graphicFrameLocks noGrp="1"/>
          </p:cNvGraphicFramePr>
          <p:nvPr>
            <p:extLst>
              <p:ext uri="{D42A27DB-BD31-4B8C-83A1-F6EECF244321}">
                <p14:modId xmlns:p14="http://schemas.microsoft.com/office/powerpoint/2010/main" val="871069506"/>
              </p:ext>
            </p:extLst>
          </p:nvPr>
        </p:nvGraphicFramePr>
        <p:xfrm>
          <a:off x="827584" y="1556792"/>
          <a:ext cx="7056784" cy="4799565"/>
        </p:xfrm>
        <a:graphic>
          <a:graphicData uri="http://schemas.openxmlformats.org/drawingml/2006/table">
            <a:tbl>
              <a:tblPr>
                <a:tableStyleId>{35758FB7-9AC5-4552-8A53-C91805E547FA}</a:tableStyleId>
              </a:tblPr>
              <a:tblGrid>
                <a:gridCol w="1764196">
                  <a:extLst>
                    <a:ext uri="{9D8B030D-6E8A-4147-A177-3AD203B41FA5}">
                      <a16:colId xmlns:a16="http://schemas.microsoft.com/office/drawing/2014/main" val="3834990575"/>
                    </a:ext>
                  </a:extLst>
                </a:gridCol>
                <a:gridCol w="1764196">
                  <a:extLst>
                    <a:ext uri="{9D8B030D-6E8A-4147-A177-3AD203B41FA5}">
                      <a16:colId xmlns:a16="http://schemas.microsoft.com/office/drawing/2014/main" val="3592488635"/>
                    </a:ext>
                  </a:extLst>
                </a:gridCol>
                <a:gridCol w="1764196">
                  <a:extLst>
                    <a:ext uri="{9D8B030D-6E8A-4147-A177-3AD203B41FA5}">
                      <a16:colId xmlns:a16="http://schemas.microsoft.com/office/drawing/2014/main" val="3556072652"/>
                    </a:ext>
                  </a:extLst>
                </a:gridCol>
                <a:gridCol w="1764196">
                  <a:extLst>
                    <a:ext uri="{9D8B030D-6E8A-4147-A177-3AD203B41FA5}">
                      <a16:colId xmlns:a16="http://schemas.microsoft.com/office/drawing/2014/main" val="3313911788"/>
                    </a:ext>
                  </a:extLst>
                </a:gridCol>
              </a:tblGrid>
              <a:tr h="266233">
                <a:tc>
                  <a:txBody>
                    <a:bodyPr/>
                    <a:lstStyle/>
                    <a:p>
                      <a:r>
                        <a:rPr lang="en-IN" sz="1100" b="1" dirty="0"/>
                        <a:t>Item</a:t>
                      </a:r>
                      <a:endParaRPr lang="en-IN" sz="1100" dirty="0"/>
                    </a:p>
                  </a:txBody>
                  <a:tcPr marL="55195" marR="55195" marT="27597" marB="27597" anchor="ctr"/>
                </a:tc>
                <a:tc>
                  <a:txBody>
                    <a:bodyPr/>
                    <a:lstStyle/>
                    <a:p>
                      <a:r>
                        <a:rPr lang="en-IN" sz="1100" b="1"/>
                        <a:t>Quantity</a:t>
                      </a:r>
                      <a:endParaRPr lang="en-IN" sz="1100"/>
                    </a:p>
                  </a:txBody>
                  <a:tcPr marL="55195" marR="55195" marT="27597" marB="27597" anchor="ctr"/>
                </a:tc>
                <a:tc>
                  <a:txBody>
                    <a:bodyPr/>
                    <a:lstStyle/>
                    <a:p>
                      <a:r>
                        <a:rPr lang="en-IN" sz="1100" b="1"/>
                        <a:t>Approx. Cost (INR)</a:t>
                      </a:r>
                      <a:endParaRPr lang="en-IN" sz="1100"/>
                    </a:p>
                  </a:txBody>
                  <a:tcPr marL="55195" marR="55195" marT="27597" marB="27597" anchor="ctr"/>
                </a:tc>
                <a:tc>
                  <a:txBody>
                    <a:bodyPr/>
                    <a:lstStyle/>
                    <a:p>
                      <a:r>
                        <a:rPr lang="en-IN" sz="1100" b="1"/>
                        <a:t>Remarks</a:t>
                      </a:r>
                      <a:endParaRPr lang="en-IN" sz="1100"/>
                    </a:p>
                  </a:txBody>
                  <a:tcPr marL="55195" marR="55195" marT="27597" marB="27597" anchor="ctr"/>
                </a:tc>
                <a:extLst>
                  <a:ext uri="{0D108BD9-81ED-4DB2-BD59-A6C34878D82A}">
                    <a16:rowId xmlns:a16="http://schemas.microsoft.com/office/drawing/2014/main" val="1775017700"/>
                  </a:ext>
                </a:extLst>
              </a:tr>
              <a:tr h="466522">
                <a:tc>
                  <a:txBody>
                    <a:bodyPr/>
                    <a:lstStyle/>
                    <a:p>
                      <a:r>
                        <a:rPr lang="fr-FR" sz="1100"/>
                        <a:t>Soil Moisture Sensor (e.g., YL-69)</a:t>
                      </a:r>
                    </a:p>
                  </a:txBody>
                  <a:tcPr marL="55195" marR="55195" marT="27597" marB="27597" anchor="ctr"/>
                </a:tc>
                <a:tc>
                  <a:txBody>
                    <a:bodyPr/>
                    <a:lstStyle/>
                    <a:p>
                      <a:r>
                        <a:rPr lang="en-IN" sz="1100"/>
                        <a:t>2</a:t>
                      </a:r>
                    </a:p>
                  </a:txBody>
                  <a:tcPr marL="55195" marR="55195" marT="27597" marB="27597" anchor="ctr"/>
                </a:tc>
                <a:tc>
                  <a:txBody>
                    <a:bodyPr/>
                    <a:lstStyle/>
                    <a:p>
                      <a:r>
                        <a:rPr lang="en-IN" sz="1100"/>
                        <a:t>₹150 × 2 = ₹300</a:t>
                      </a:r>
                    </a:p>
                  </a:txBody>
                  <a:tcPr marL="55195" marR="55195" marT="27597" marB="27597" anchor="ctr"/>
                </a:tc>
                <a:tc>
                  <a:txBody>
                    <a:bodyPr/>
                    <a:lstStyle/>
                    <a:p>
                      <a:r>
                        <a:rPr lang="en-IN" sz="1100"/>
                        <a:t>For sensing soil moisture level</a:t>
                      </a:r>
                    </a:p>
                  </a:txBody>
                  <a:tcPr marL="55195" marR="55195" marT="27597" marB="27597" anchor="ctr"/>
                </a:tc>
                <a:extLst>
                  <a:ext uri="{0D108BD9-81ED-4DB2-BD59-A6C34878D82A}">
                    <a16:rowId xmlns:a16="http://schemas.microsoft.com/office/drawing/2014/main" val="3242137131"/>
                  </a:ext>
                </a:extLst>
              </a:tr>
              <a:tr h="666811">
                <a:tc>
                  <a:txBody>
                    <a:bodyPr/>
                    <a:lstStyle/>
                    <a:p>
                      <a:r>
                        <a:rPr lang="en-IN" sz="1100"/>
                        <a:t>DHT11 (Temp + Humidity sensor)</a:t>
                      </a:r>
                    </a:p>
                  </a:txBody>
                  <a:tcPr marL="55195" marR="55195" marT="27597" marB="27597" anchor="ctr"/>
                </a:tc>
                <a:tc>
                  <a:txBody>
                    <a:bodyPr/>
                    <a:lstStyle/>
                    <a:p>
                      <a:r>
                        <a:rPr lang="en-IN" sz="1100"/>
                        <a:t>1</a:t>
                      </a:r>
                    </a:p>
                  </a:txBody>
                  <a:tcPr marL="55195" marR="55195" marT="27597" marB="27597" anchor="ctr"/>
                </a:tc>
                <a:tc>
                  <a:txBody>
                    <a:bodyPr/>
                    <a:lstStyle/>
                    <a:p>
                      <a:r>
                        <a:rPr lang="en-IN" sz="1100"/>
                        <a:t>₹200</a:t>
                      </a:r>
                    </a:p>
                  </a:txBody>
                  <a:tcPr marL="55195" marR="55195" marT="27597" marB="27597" anchor="ctr"/>
                </a:tc>
                <a:tc>
                  <a:txBody>
                    <a:bodyPr/>
                    <a:lstStyle/>
                    <a:p>
                      <a:r>
                        <a:rPr lang="en-IN" sz="1100"/>
                        <a:t>Optional – for local temperature/humidity</a:t>
                      </a:r>
                    </a:p>
                  </a:txBody>
                  <a:tcPr marL="55195" marR="55195" marT="27597" marB="27597" anchor="ctr"/>
                </a:tc>
                <a:extLst>
                  <a:ext uri="{0D108BD9-81ED-4DB2-BD59-A6C34878D82A}">
                    <a16:rowId xmlns:a16="http://schemas.microsoft.com/office/drawing/2014/main" val="1844080059"/>
                  </a:ext>
                </a:extLst>
              </a:tr>
              <a:tr h="666811">
                <a:tc>
                  <a:txBody>
                    <a:bodyPr/>
                    <a:lstStyle/>
                    <a:p>
                      <a:r>
                        <a:rPr lang="en-IN" sz="1100"/>
                        <a:t>NodeMCU (ESP8266) / Arduino UNO</a:t>
                      </a:r>
                    </a:p>
                  </a:txBody>
                  <a:tcPr marL="55195" marR="55195" marT="27597" marB="27597" anchor="ctr"/>
                </a:tc>
                <a:tc>
                  <a:txBody>
                    <a:bodyPr/>
                    <a:lstStyle/>
                    <a:p>
                      <a:r>
                        <a:rPr lang="en-IN" sz="1100" dirty="0"/>
                        <a:t>1</a:t>
                      </a:r>
                    </a:p>
                  </a:txBody>
                  <a:tcPr marL="55195" marR="55195" marT="27597" marB="27597" anchor="ctr"/>
                </a:tc>
                <a:tc>
                  <a:txBody>
                    <a:bodyPr/>
                    <a:lstStyle/>
                    <a:p>
                      <a:r>
                        <a:rPr lang="en-IN" sz="1100"/>
                        <a:t>₹350–₹450</a:t>
                      </a:r>
                    </a:p>
                  </a:txBody>
                  <a:tcPr marL="55195" marR="55195" marT="27597" marB="27597" anchor="ctr"/>
                </a:tc>
                <a:tc>
                  <a:txBody>
                    <a:bodyPr/>
                    <a:lstStyle/>
                    <a:p>
                      <a:r>
                        <a:rPr lang="en-IN" sz="1100"/>
                        <a:t>Microcontroller for connecting sensors</a:t>
                      </a:r>
                    </a:p>
                  </a:txBody>
                  <a:tcPr marL="55195" marR="55195" marT="27597" marB="27597" anchor="ctr"/>
                </a:tc>
                <a:extLst>
                  <a:ext uri="{0D108BD9-81ED-4DB2-BD59-A6C34878D82A}">
                    <a16:rowId xmlns:a16="http://schemas.microsoft.com/office/drawing/2014/main" val="1773050249"/>
                  </a:ext>
                </a:extLst>
              </a:tr>
              <a:tr h="466522">
                <a:tc>
                  <a:txBody>
                    <a:bodyPr/>
                    <a:lstStyle/>
                    <a:p>
                      <a:r>
                        <a:rPr lang="en-IN" sz="1100"/>
                        <a:t>Relay Module (Single channel)</a:t>
                      </a:r>
                    </a:p>
                  </a:txBody>
                  <a:tcPr marL="55195" marR="55195" marT="27597" marB="27597" anchor="ctr"/>
                </a:tc>
                <a:tc>
                  <a:txBody>
                    <a:bodyPr/>
                    <a:lstStyle/>
                    <a:p>
                      <a:r>
                        <a:rPr lang="en-IN" sz="1100"/>
                        <a:t>1</a:t>
                      </a:r>
                    </a:p>
                  </a:txBody>
                  <a:tcPr marL="55195" marR="55195" marT="27597" marB="27597" anchor="ctr"/>
                </a:tc>
                <a:tc>
                  <a:txBody>
                    <a:bodyPr/>
                    <a:lstStyle/>
                    <a:p>
                      <a:r>
                        <a:rPr lang="en-IN" sz="1100"/>
                        <a:t>₹120</a:t>
                      </a:r>
                    </a:p>
                  </a:txBody>
                  <a:tcPr marL="55195" marR="55195" marT="27597" marB="27597" anchor="ctr"/>
                </a:tc>
                <a:tc>
                  <a:txBody>
                    <a:bodyPr/>
                    <a:lstStyle/>
                    <a:p>
                      <a:r>
                        <a:rPr lang="en-IN" sz="1100"/>
                        <a:t>To control water pump</a:t>
                      </a:r>
                    </a:p>
                  </a:txBody>
                  <a:tcPr marL="55195" marR="55195" marT="27597" marB="27597" anchor="ctr"/>
                </a:tc>
                <a:extLst>
                  <a:ext uri="{0D108BD9-81ED-4DB2-BD59-A6C34878D82A}">
                    <a16:rowId xmlns:a16="http://schemas.microsoft.com/office/drawing/2014/main" val="3026018829"/>
                  </a:ext>
                </a:extLst>
              </a:tr>
              <a:tr h="466522">
                <a:tc>
                  <a:txBody>
                    <a:bodyPr/>
                    <a:lstStyle/>
                    <a:p>
                      <a:r>
                        <a:rPr lang="en-IN" sz="1100"/>
                        <a:t>Submersible Mini Water Pump</a:t>
                      </a:r>
                    </a:p>
                  </a:txBody>
                  <a:tcPr marL="55195" marR="55195" marT="27597" marB="27597" anchor="ctr"/>
                </a:tc>
                <a:tc>
                  <a:txBody>
                    <a:bodyPr/>
                    <a:lstStyle/>
                    <a:p>
                      <a:r>
                        <a:rPr lang="en-IN" sz="1100"/>
                        <a:t>1</a:t>
                      </a:r>
                    </a:p>
                  </a:txBody>
                  <a:tcPr marL="55195" marR="55195" marT="27597" marB="27597" anchor="ctr"/>
                </a:tc>
                <a:tc>
                  <a:txBody>
                    <a:bodyPr/>
                    <a:lstStyle/>
                    <a:p>
                      <a:r>
                        <a:rPr lang="en-IN" sz="1100"/>
                        <a:t>₹250–₹300</a:t>
                      </a:r>
                    </a:p>
                  </a:txBody>
                  <a:tcPr marL="55195" marR="55195" marT="27597" marB="27597" anchor="ctr"/>
                </a:tc>
                <a:tc>
                  <a:txBody>
                    <a:bodyPr/>
                    <a:lstStyle/>
                    <a:p>
                      <a:r>
                        <a:rPr lang="en-IN" sz="1100"/>
                        <a:t>For irrigation purpose</a:t>
                      </a:r>
                    </a:p>
                  </a:txBody>
                  <a:tcPr marL="55195" marR="55195" marT="27597" marB="27597" anchor="ctr"/>
                </a:tc>
                <a:extLst>
                  <a:ext uri="{0D108BD9-81ED-4DB2-BD59-A6C34878D82A}">
                    <a16:rowId xmlns:a16="http://schemas.microsoft.com/office/drawing/2014/main" val="1423379024"/>
                  </a:ext>
                </a:extLst>
              </a:tr>
              <a:tr h="666811">
                <a:tc>
                  <a:txBody>
                    <a:bodyPr/>
                    <a:lstStyle/>
                    <a:p>
                      <a:r>
                        <a:rPr lang="en-IN" sz="1100"/>
                        <a:t>Jumper wires, resistors, breadboard</a:t>
                      </a:r>
                    </a:p>
                  </a:txBody>
                  <a:tcPr marL="55195" marR="55195" marT="27597" marB="27597" anchor="ctr"/>
                </a:tc>
                <a:tc>
                  <a:txBody>
                    <a:bodyPr/>
                    <a:lstStyle/>
                    <a:p>
                      <a:r>
                        <a:rPr lang="en-IN" sz="1100"/>
                        <a:t>1 set</a:t>
                      </a:r>
                    </a:p>
                  </a:txBody>
                  <a:tcPr marL="55195" marR="55195" marT="27597" marB="27597" anchor="ctr"/>
                </a:tc>
                <a:tc>
                  <a:txBody>
                    <a:bodyPr/>
                    <a:lstStyle/>
                    <a:p>
                      <a:r>
                        <a:rPr lang="en-IN" sz="1100"/>
                        <a:t>₹150</a:t>
                      </a:r>
                    </a:p>
                  </a:txBody>
                  <a:tcPr marL="55195" marR="55195" marT="27597" marB="27597" anchor="ctr"/>
                </a:tc>
                <a:tc>
                  <a:txBody>
                    <a:bodyPr/>
                    <a:lstStyle/>
                    <a:p>
                      <a:r>
                        <a:rPr lang="en-IN" sz="1100"/>
                        <a:t>General components</a:t>
                      </a:r>
                    </a:p>
                  </a:txBody>
                  <a:tcPr marL="55195" marR="55195" marT="27597" marB="27597" anchor="ctr"/>
                </a:tc>
                <a:extLst>
                  <a:ext uri="{0D108BD9-81ED-4DB2-BD59-A6C34878D82A}">
                    <a16:rowId xmlns:a16="http://schemas.microsoft.com/office/drawing/2014/main" val="3375232131"/>
                  </a:ext>
                </a:extLst>
              </a:tr>
              <a:tr h="466522">
                <a:tc>
                  <a:txBody>
                    <a:bodyPr/>
                    <a:lstStyle/>
                    <a:p>
                      <a:r>
                        <a:rPr lang="en-IN" sz="1100"/>
                        <a:t>Power Adapter / Battery</a:t>
                      </a:r>
                    </a:p>
                  </a:txBody>
                  <a:tcPr marL="55195" marR="55195" marT="27597" marB="27597" anchor="ctr"/>
                </a:tc>
                <a:tc>
                  <a:txBody>
                    <a:bodyPr/>
                    <a:lstStyle/>
                    <a:p>
                      <a:r>
                        <a:rPr lang="en-IN" sz="1100"/>
                        <a:t>1</a:t>
                      </a:r>
                    </a:p>
                  </a:txBody>
                  <a:tcPr marL="55195" marR="55195" marT="27597" marB="27597" anchor="ctr"/>
                </a:tc>
                <a:tc>
                  <a:txBody>
                    <a:bodyPr/>
                    <a:lstStyle/>
                    <a:p>
                      <a:r>
                        <a:rPr lang="en-IN" sz="1100"/>
                        <a:t>₹250</a:t>
                      </a:r>
                    </a:p>
                  </a:txBody>
                  <a:tcPr marL="55195" marR="55195" marT="27597" marB="27597" anchor="ctr"/>
                </a:tc>
                <a:tc>
                  <a:txBody>
                    <a:bodyPr/>
                    <a:lstStyle/>
                    <a:p>
                      <a:r>
                        <a:rPr lang="en-IN" sz="1100"/>
                        <a:t>For powering the controller</a:t>
                      </a:r>
                    </a:p>
                  </a:txBody>
                  <a:tcPr marL="55195" marR="55195" marT="27597" marB="27597" anchor="ctr"/>
                </a:tc>
                <a:extLst>
                  <a:ext uri="{0D108BD9-81ED-4DB2-BD59-A6C34878D82A}">
                    <a16:rowId xmlns:a16="http://schemas.microsoft.com/office/drawing/2014/main" val="2925619321"/>
                  </a:ext>
                </a:extLst>
              </a:tr>
              <a:tr h="666811">
                <a:tc>
                  <a:txBody>
                    <a:bodyPr/>
                    <a:lstStyle/>
                    <a:p>
                      <a:r>
                        <a:rPr lang="en-GB" sz="1100"/>
                        <a:t>IoT Cloud Platform / Web Hosting</a:t>
                      </a:r>
                    </a:p>
                  </a:txBody>
                  <a:tcPr marL="55195" marR="55195" marT="27597" marB="27597" anchor="ctr"/>
                </a:tc>
                <a:tc>
                  <a:txBody>
                    <a:bodyPr/>
                    <a:lstStyle/>
                    <a:p>
                      <a:r>
                        <a:rPr lang="en-IN" sz="1100"/>
                        <a:t>1</a:t>
                      </a:r>
                    </a:p>
                  </a:txBody>
                  <a:tcPr marL="55195" marR="55195" marT="27597" marB="27597" anchor="ctr"/>
                </a:tc>
                <a:tc>
                  <a:txBody>
                    <a:bodyPr/>
                    <a:lstStyle/>
                    <a:p>
                      <a:r>
                        <a:rPr lang="en-IN" sz="1100"/>
                        <a:t>₹0–₹300</a:t>
                      </a:r>
                    </a:p>
                  </a:txBody>
                  <a:tcPr marL="55195" marR="55195" marT="27597" marB="27597" anchor="ctr"/>
                </a:tc>
                <a:tc>
                  <a:txBody>
                    <a:bodyPr/>
                    <a:lstStyle/>
                    <a:p>
                      <a:r>
                        <a:rPr lang="en-GB" sz="1100" dirty="0"/>
                        <a:t>Free tier options available (</a:t>
                      </a:r>
                      <a:r>
                        <a:rPr lang="en-GB" sz="1100" dirty="0" err="1"/>
                        <a:t>ThingSpeak</a:t>
                      </a:r>
                      <a:r>
                        <a:rPr lang="en-GB" sz="1100" dirty="0"/>
                        <a:t>, Blynk)</a:t>
                      </a:r>
                    </a:p>
                  </a:txBody>
                  <a:tcPr marL="55195" marR="55195" marT="27597" marB="27597" anchor="ctr"/>
                </a:tc>
                <a:extLst>
                  <a:ext uri="{0D108BD9-81ED-4DB2-BD59-A6C34878D82A}">
                    <a16:rowId xmlns:a16="http://schemas.microsoft.com/office/drawing/2014/main" val="4153738462"/>
                  </a:ext>
                </a:extLst>
              </a:tr>
            </a:tbl>
          </a:graphicData>
        </a:graphic>
      </p:graphicFrame>
    </p:spTree>
    <p:extLst>
      <p:ext uri="{BB962C8B-B14F-4D97-AF65-F5344CB8AC3E}">
        <p14:creationId xmlns:p14="http://schemas.microsoft.com/office/powerpoint/2010/main" val="30693292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642938" y="214313"/>
            <a:ext cx="7515225" cy="1214437"/>
          </a:xfrm>
        </p:spPr>
        <p:txBody>
          <a:bodyPr/>
          <a:lstStyle/>
          <a:p>
            <a:pPr eaLnBrk="1" hangingPunct="1"/>
            <a:r>
              <a:rPr lang="en-US" sz="2800" b="1" dirty="0">
                <a:solidFill>
                  <a:srgbClr val="7030A0"/>
                </a:solidFill>
                <a:latin typeface="Arial" panose="020B0604020202020204" pitchFamily="34" charset="0"/>
                <a:cs typeface="Arial" panose="020B0604020202020204" pitchFamily="34" charset="0"/>
              </a:rPr>
              <a:t>Proposed Outcome of the Project</a:t>
            </a:r>
            <a:endParaRPr lang="en-IN" sz="2800" b="1" dirty="0">
              <a:solidFill>
                <a:srgbClr val="7030A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395288" y="1500188"/>
            <a:ext cx="8280400" cy="3008312"/>
          </a:xfrm>
        </p:spPr>
        <p:txBody>
          <a:bodyPr rtlCol="0">
            <a:normAutofit/>
          </a:bodyPr>
          <a:lstStyle/>
          <a:p>
            <a:pPr marL="0" indent="0" algn="just" eaLnBrk="1" fontAlgn="auto" hangingPunct="1">
              <a:spcAft>
                <a:spcPts val="0"/>
              </a:spcAft>
              <a:buFont typeface="Arial" panose="020B0604020202020204" pitchFamily="34" charset="0"/>
              <a:buNone/>
              <a:defRPr/>
            </a:pPr>
            <a:endParaRPr lang="en-IN" sz="5300" dirty="0">
              <a:latin typeface="Arial" pitchFamily="34" charset="0"/>
              <a:cs typeface="Arial" pitchFamily="34" charset="0"/>
            </a:endParaRPr>
          </a:p>
          <a:p>
            <a:pPr eaLnBrk="1" fontAlgn="auto" hangingPunct="1">
              <a:spcAft>
                <a:spcPts val="0"/>
              </a:spcAft>
              <a:defRPr/>
            </a:pPr>
            <a:endParaRPr lang="en-IN" dirty="0"/>
          </a:p>
        </p:txBody>
      </p:sp>
      <p:sp>
        <p:nvSpPr>
          <p:cNvPr id="1434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E51C282-E751-46B4-A11D-51DF6B800694}" type="slidenum">
              <a:rPr lang="en-IN" sz="1200" smtClean="0">
                <a:solidFill>
                  <a:srgbClr val="898989"/>
                </a:solidFill>
              </a:rPr>
              <a:pPr>
                <a:spcBef>
                  <a:spcPct val="0"/>
                </a:spcBef>
                <a:buFontTx/>
                <a:buNone/>
              </a:pPr>
              <a:t>13</a:t>
            </a:fld>
            <a:endParaRPr lang="en-IN" sz="1200">
              <a:solidFill>
                <a:srgbClr val="898989"/>
              </a:solidFill>
            </a:endParaRPr>
          </a:p>
        </p:txBody>
      </p:sp>
      <p:sp>
        <p:nvSpPr>
          <p:cNvPr id="2" name="TextBox 1">
            <a:extLst>
              <a:ext uri="{FF2B5EF4-FFF2-40B4-BE49-F238E27FC236}">
                <a16:creationId xmlns:a16="http://schemas.microsoft.com/office/drawing/2014/main" id="{190212C3-B3E2-BF3B-7A4A-A36854A64E60}"/>
              </a:ext>
            </a:extLst>
          </p:cNvPr>
          <p:cNvSpPr txBox="1"/>
          <p:nvPr/>
        </p:nvSpPr>
        <p:spPr>
          <a:xfrm>
            <a:off x="395288" y="1628800"/>
            <a:ext cx="8497192" cy="4524315"/>
          </a:xfrm>
          <a:prstGeom prst="rect">
            <a:avLst/>
          </a:prstGeom>
          <a:noFill/>
        </p:spPr>
        <p:txBody>
          <a:bodyPr wrap="square" rtlCol="0">
            <a:spAutoFit/>
          </a:bodyPr>
          <a:lstStyle/>
          <a:p>
            <a:pPr algn="ctr"/>
            <a:r>
              <a:rPr lang="en-GB" dirty="0"/>
              <a:t>By the end of the project, the system is expected to achieve the following goals:</a:t>
            </a:r>
          </a:p>
          <a:p>
            <a:pPr algn="ctr"/>
            <a:endParaRPr lang="en-GB" dirty="0"/>
          </a:p>
          <a:p>
            <a:pPr marL="342900" indent="-342900" algn="just">
              <a:buFont typeface="+mj-lt"/>
              <a:buAutoNum type="arabicPeriod"/>
            </a:pPr>
            <a:r>
              <a:rPr lang="en-GB" dirty="0"/>
              <a:t>Predict irrigation needs accurately using machine learning models on the input of weather forecast and soil moisture data.</a:t>
            </a:r>
          </a:p>
          <a:p>
            <a:pPr marL="342900" indent="-342900" algn="just">
              <a:buFont typeface="+mj-lt"/>
              <a:buAutoNum type="arabicPeriod"/>
            </a:pPr>
            <a:r>
              <a:rPr lang="en-GB" dirty="0"/>
              <a:t>Optimize water use so that unnecessary irrigation can be avoided, increasing the conservation of water.</a:t>
            </a:r>
          </a:p>
          <a:p>
            <a:pPr marL="342900" indent="-342900" algn="just">
              <a:buFont typeface="+mj-lt"/>
              <a:buAutoNum type="arabicPeriod"/>
            </a:pPr>
            <a:r>
              <a:rPr lang="en-GB" dirty="0"/>
              <a:t>Provide suggestions or allow real-time irrigation decisions to be made through an easily accessible interface or physical set-up.</a:t>
            </a:r>
          </a:p>
          <a:p>
            <a:pPr marL="342900" indent="-342900" algn="just">
              <a:buFont typeface="+mj-lt"/>
              <a:buAutoNum type="arabicPeriod"/>
            </a:pPr>
            <a:r>
              <a:rPr lang="en-GB" dirty="0"/>
              <a:t>Allow for implementation in real life using optional hardware (moisture sensors, microcontrollers, etc.) turn-key automated irrigation.</a:t>
            </a:r>
          </a:p>
          <a:p>
            <a:pPr marL="342900" indent="-342900" algn="just">
              <a:buFont typeface="+mj-lt"/>
              <a:buAutoNum type="arabicPeriod"/>
            </a:pPr>
            <a:r>
              <a:rPr lang="en-GB" dirty="0"/>
              <a:t>Should be scalable and customized for soils of varying types, weather conditions, and crop requirements.</a:t>
            </a:r>
          </a:p>
          <a:p>
            <a:pPr marL="342900" indent="-342900" algn="just">
              <a:buFont typeface="+mj-lt"/>
              <a:buAutoNum type="arabicPeriod"/>
            </a:pPr>
            <a:r>
              <a:rPr lang="en-GB" dirty="0"/>
              <a:t>Not only are the farmers going to benefit from this system, but also researchers, government schemes, and smart agricultural start-ups trying to increase the water efficiency and crop yield.</a:t>
            </a:r>
            <a:endParaRPr lang="en-IN" dirty="0"/>
          </a:p>
          <a:p>
            <a:endParaRPr lang="en-IN" dirty="0"/>
          </a:p>
        </p:txBody>
      </p:sp>
    </p:spTree>
    <p:extLst>
      <p:ext uri="{BB962C8B-B14F-4D97-AF65-F5344CB8AC3E}">
        <p14:creationId xmlns:p14="http://schemas.microsoft.com/office/powerpoint/2010/main" val="16090706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642938" y="214313"/>
            <a:ext cx="7515225" cy="1214437"/>
          </a:xfrm>
        </p:spPr>
        <p:txBody>
          <a:bodyPr/>
          <a:lstStyle/>
          <a:p>
            <a:pPr eaLnBrk="1" hangingPunct="1"/>
            <a:r>
              <a:rPr lang="en-US" sz="2800" b="1">
                <a:solidFill>
                  <a:srgbClr val="7030A0"/>
                </a:solidFill>
                <a:latin typeface="Arial" panose="020B0604020202020204" pitchFamily="34" charset="0"/>
                <a:cs typeface="Arial" panose="020B0604020202020204" pitchFamily="34" charset="0"/>
              </a:rPr>
              <a:t>References </a:t>
            </a:r>
            <a:endParaRPr lang="en-IN" sz="2800" b="1" dirty="0">
              <a:solidFill>
                <a:srgbClr val="7030A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395288" y="1500188"/>
            <a:ext cx="8280400" cy="3008312"/>
          </a:xfrm>
        </p:spPr>
        <p:txBody>
          <a:bodyPr rtlCol="0">
            <a:normAutofit/>
          </a:bodyPr>
          <a:lstStyle/>
          <a:p>
            <a:pPr marL="0" indent="0" algn="just" eaLnBrk="1" fontAlgn="auto" hangingPunct="1">
              <a:spcAft>
                <a:spcPts val="0"/>
              </a:spcAft>
              <a:buFont typeface="Arial" panose="020B0604020202020204" pitchFamily="34" charset="0"/>
              <a:buNone/>
              <a:defRPr/>
            </a:pPr>
            <a:endParaRPr lang="en-IN" sz="5300" dirty="0">
              <a:latin typeface="Arial" pitchFamily="34" charset="0"/>
              <a:cs typeface="Arial" pitchFamily="34" charset="0"/>
            </a:endParaRPr>
          </a:p>
          <a:p>
            <a:pPr eaLnBrk="1" fontAlgn="auto" hangingPunct="1">
              <a:spcAft>
                <a:spcPts val="0"/>
              </a:spcAft>
              <a:defRPr/>
            </a:pPr>
            <a:endParaRPr lang="en-IN" dirty="0"/>
          </a:p>
        </p:txBody>
      </p:sp>
      <p:sp>
        <p:nvSpPr>
          <p:cNvPr id="1434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E51C282-E751-46B4-A11D-51DF6B800694}" type="slidenum">
              <a:rPr lang="en-IN" sz="1200" smtClean="0">
                <a:solidFill>
                  <a:srgbClr val="898989"/>
                </a:solidFill>
              </a:rPr>
              <a:pPr>
                <a:spcBef>
                  <a:spcPct val="0"/>
                </a:spcBef>
                <a:buFontTx/>
                <a:buNone/>
              </a:pPr>
              <a:t>14</a:t>
            </a:fld>
            <a:endParaRPr lang="en-IN" sz="1200">
              <a:solidFill>
                <a:srgbClr val="898989"/>
              </a:solidFill>
            </a:endParaRPr>
          </a:p>
        </p:txBody>
      </p:sp>
      <p:sp>
        <p:nvSpPr>
          <p:cNvPr id="4" name="TextBox 3">
            <a:extLst>
              <a:ext uri="{FF2B5EF4-FFF2-40B4-BE49-F238E27FC236}">
                <a16:creationId xmlns:a16="http://schemas.microsoft.com/office/drawing/2014/main" id="{DEC8A91B-A750-3EEB-2B6D-E94C53EEC44A}"/>
              </a:ext>
            </a:extLst>
          </p:cNvPr>
          <p:cNvSpPr txBox="1"/>
          <p:nvPr/>
        </p:nvSpPr>
        <p:spPr>
          <a:xfrm>
            <a:off x="252040" y="1500188"/>
            <a:ext cx="8280400" cy="6868919"/>
          </a:xfrm>
          <a:prstGeom prst="rect">
            <a:avLst/>
          </a:prstGeom>
          <a:noFill/>
        </p:spPr>
        <p:txBody>
          <a:bodyPr wrap="square" rtlCol="0">
            <a:spAutoFit/>
          </a:bodyPr>
          <a:lstStyle/>
          <a:p>
            <a:pPr marL="342900" indent="-342900">
              <a:buFont typeface="+mj-lt"/>
              <a:buAutoNum type="arabicPeriod"/>
            </a:pPr>
            <a:r>
              <a:rPr lang="en-GB" sz="1800" dirty="0"/>
              <a:t>Smart Irrigation System with Real Time Weather Monitoring. </a:t>
            </a:r>
            <a:r>
              <a:rPr lang="en-IN" dirty="0">
                <a:hlinkClick r:id="rId3"/>
              </a:rPr>
              <a:t>https://www.researchgate.net/publication/378031593_IoT_Based_Smart_Irrigation_System_Using_Weather_Forecastin</a:t>
            </a:r>
            <a:r>
              <a:rPr lang="en-IN" dirty="0"/>
              <a:t> </a:t>
            </a:r>
          </a:p>
          <a:p>
            <a:pPr marL="342900" indent="-342900">
              <a:buFont typeface="+mj-lt"/>
              <a:buAutoNum type="arabicPeriod"/>
            </a:pPr>
            <a:endParaRPr lang="en-IN" dirty="0"/>
          </a:p>
          <a:p>
            <a:pPr marL="342900" indent="-342900">
              <a:buFont typeface="+mj-lt"/>
              <a:buAutoNum type="arabicPeriod"/>
            </a:pPr>
            <a:r>
              <a:rPr lang="en-GB" sz="1800" dirty="0"/>
              <a:t>IoT Based Smart Irrigation System Using Weather Forecasting. </a:t>
            </a:r>
            <a:r>
              <a:rPr lang="en-IN" dirty="0">
                <a:hlinkClick r:id="rId4"/>
              </a:rPr>
              <a:t>https://www.ijirset.com/upload/2024/april/154_Irrigation.pdf</a:t>
            </a:r>
            <a:r>
              <a:rPr lang="en-IN" dirty="0"/>
              <a:t> </a:t>
            </a:r>
          </a:p>
          <a:p>
            <a:pPr marL="342900" indent="-342900">
              <a:buFont typeface="+mj-lt"/>
              <a:buAutoNum type="arabicPeriod"/>
            </a:pPr>
            <a:endParaRPr lang="en-IN" dirty="0"/>
          </a:p>
          <a:p>
            <a:pPr marL="342900" indent="-342900">
              <a:buFont typeface="+mj-lt"/>
              <a:buAutoNum type="arabicPeriod"/>
            </a:pPr>
            <a:r>
              <a:rPr lang="en-GB" sz="1800" dirty="0"/>
              <a:t>IoT-Based Smart Irrigation Using Weather Forecast and Soil Moisture Sensor. </a:t>
            </a:r>
            <a:r>
              <a:rPr lang="en-IN" dirty="0">
                <a:hlinkClick r:id="rId5"/>
              </a:rPr>
              <a:t>https://www.ijnrd.org/papers/IJNRD2402220.pdf</a:t>
            </a:r>
            <a:r>
              <a:rPr lang="en-IN" dirty="0"/>
              <a:t> </a:t>
            </a:r>
          </a:p>
          <a:p>
            <a:pPr marL="342900" indent="-342900">
              <a:buFont typeface="+mj-lt"/>
              <a:buAutoNum type="arabicPeriod"/>
            </a:pPr>
            <a:endParaRPr lang="en-IN" dirty="0"/>
          </a:p>
          <a:p>
            <a:pPr marL="342900" indent="-342900">
              <a:buFont typeface="+mj-lt"/>
              <a:buAutoNum type="arabicPeriod"/>
            </a:pPr>
            <a:r>
              <a:rPr lang="en-GB" sz="1800" dirty="0"/>
              <a:t>Real‐Time Irrigation Scheduling Based on Weather Forecasts: Field Observations and </a:t>
            </a:r>
            <a:r>
              <a:rPr lang="en-GB" sz="1800" dirty="0" err="1"/>
              <a:t>Modeling</a:t>
            </a:r>
            <a:r>
              <a:rPr lang="en-GB" sz="1800" dirty="0"/>
              <a:t>. </a:t>
            </a:r>
            <a:r>
              <a:rPr lang="en-IN" dirty="0">
                <a:hlinkClick r:id="rId6"/>
              </a:rPr>
              <a:t>https://pdf.sciencedirectassets.com/779816/1-s2.0-S2772375524X00040/1-s2.0-S2772375524002971/main.pdf?X-Amz-Security-Token=IQoJb3J</a:t>
            </a:r>
            <a:r>
              <a:rPr lang="en-IN" dirty="0"/>
              <a:t> </a:t>
            </a:r>
          </a:p>
          <a:p>
            <a:pPr marL="342900" indent="-342900">
              <a:buFont typeface="+mj-lt"/>
              <a:buAutoNum type="arabicPeriod"/>
            </a:pPr>
            <a:endParaRPr lang="en-IN" dirty="0"/>
          </a:p>
          <a:p>
            <a:pPr marL="342900" indent="-342900">
              <a:buFont typeface="+mj-lt"/>
              <a:buAutoNum type="arabicPeriod"/>
            </a:pPr>
            <a:r>
              <a:rPr lang="en-GB" sz="1800" dirty="0"/>
              <a:t>Soil moisture forecasting for precision irrigation management using real-time electricity consumption record. </a:t>
            </a:r>
            <a:r>
              <a:rPr lang="en-IN" dirty="0">
                <a:hlinkClick r:id="rId7"/>
              </a:rPr>
              <a:t>https://agupubs.onlinelibrary.wiley.com/doi/full/10.1029/2023WR035810</a:t>
            </a:r>
            <a:r>
              <a:rPr lang="en-IN" dirty="0"/>
              <a:t> </a:t>
            </a:r>
          </a:p>
          <a:p>
            <a:pPr marL="342900" indent="-342900">
              <a:buFont typeface="+mj-lt"/>
              <a:buAutoNum type="arabicPeriod"/>
            </a:pPr>
            <a:endParaRPr lang="en-IN" dirty="0"/>
          </a:p>
          <a:p>
            <a:pPr marL="342900" indent="-342900">
              <a:buFont typeface="+mj-lt"/>
              <a:buAutoNum type="arabicPeriod"/>
            </a:pPr>
            <a:endParaRPr lang="en-IN" dirty="0"/>
          </a:p>
          <a:p>
            <a:pPr marL="342900" indent="-342900">
              <a:buFont typeface="+mj-lt"/>
              <a:buAutoNum type="arabicPeriod"/>
            </a:pPr>
            <a:endParaRPr lang="en-IN" dirty="0"/>
          </a:p>
          <a:p>
            <a:pPr marL="342900" indent="-342900">
              <a:buFont typeface="+mj-lt"/>
              <a:buAutoNum type="arabicPeriod"/>
            </a:pPr>
            <a:endParaRPr lang="en-IN" dirty="0"/>
          </a:p>
          <a:p>
            <a:pPr marL="342900" indent="-342900">
              <a:buFont typeface="+mj-lt"/>
              <a:buAutoNum type="arabicPeriod"/>
            </a:pPr>
            <a:endParaRPr lang="en-IN" dirty="0"/>
          </a:p>
          <a:p>
            <a:pPr marL="342900" indent="-342900">
              <a:buFont typeface="+mj-lt"/>
              <a:buAutoNum type="arabicPeriod"/>
            </a:pPr>
            <a:endParaRPr lang="en-IN" dirty="0"/>
          </a:p>
        </p:txBody>
      </p:sp>
    </p:spTree>
    <p:extLst>
      <p:ext uri="{BB962C8B-B14F-4D97-AF65-F5344CB8AC3E}">
        <p14:creationId xmlns:p14="http://schemas.microsoft.com/office/powerpoint/2010/main" val="19547085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1244</TotalTime>
  <Words>1783</Words>
  <Application>Microsoft Office PowerPoint</Application>
  <PresentationFormat>On-screen Show (4:3)</PresentationFormat>
  <Paragraphs>191</Paragraphs>
  <Slides>14</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Times New Roman</vt:lpstr>
      <vt:lpstr>Office Theme</vt:lpstr>
      <vt:lpstr>PowerPoint Presentation</vt:lpstr>
      <vt:lpstr> Contents</vt:lpstr>
      <vt:lpstr>Introduction</vt:lpstr>
      <vt:lpstr>Current technology of the project </vt:lpstr>
      <vt:lpstr>Current technology of the project </vt:lpstr>
      <vt:lpstr>Current technology of the project </vt:lpstr>
      <vt:lpstr>Current technology of the project </vt:lpstr>
      <vt:lpstr>Current technology of the project </vt:lpstr>
      <vt:lpstr>Problem identification, scope and objectives</vt:lpstr>
      <vt:lpstr>Methodology to be adopted</vt:lpstr>
      <vt:lpstr>Timeline of the Project and Budget </vt:lpstr>
      <vt:lpstr>Timeline of the Project and Budget </vt:lpstr>
      <vt:lpstr>Proposed Outcome of the Project</vt:lpstr>
      <vt:lpstr>References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Student</dc:creator>
  <cp:lastModifiedBy>Kabindra pun magar</cp:lastModifiedBy>
  <cp:revision>46</cp:revision>
  <dcterms:created xsi:type="dcterms:W3CDTF">2018-04-23T03:44:47Z</dcterms:created>
  <dcterms:modified xsi:type="dcterms:W3CDTF">2025-07-26T03:18:09Z</dcterms:modified>
</cp:coreProperties>
</file>